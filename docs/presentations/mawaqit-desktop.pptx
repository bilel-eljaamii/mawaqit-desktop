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fntdata" ContentType="application/x-fontdata"/>
  <Default Extension="bmp" ContentType="image/bmp"/>
  <Default Extension="jpeg" ContentType="image/jpeg"/>
  <Default Extension="png" ContentType="image/png"/>
  <Default Extension="gif" ContentType="image/gif"/>
  <Default Extension="tif" ContentType="image/tif"/>
  <Default Extension="emf" ContentType="image/x-emf"/>
  <Default Extension="wmf" ContentType="image/x-wmf"/>
  <Default Extension="pct" ContentType="image/pct"/>
  <Default Extension="pcx" ContentType="image/pcx"/>
  <Default Extension="tga" ContentType="image/tga"/>
  <Default Extension="svg" ContentType="image/svg+xml"/>
  <Default Extension="webp" ContentType="image/webp"/>
  <Default Extension="avi" ContentType="video/avi"/>
  <Default Extension="wmv" ContentType="video/wmv"/>
  <Default Extension="mpg" ContentType="video/mpeg"/>
  <Default Extension="mpeg" ContentType="video/mpeg"/>
  <Default Extension="mp2" ContentType="video/mpeg"/>
  <Default Extension="mp4" ContentType="video/mpeg"/>
  <Default Extension="wma" ContentType="audio/x-ms-wma"/>
  <Default Extension="mid" ContentType="audio/unknown"/>
  <Default Extension="midi" ContentType="audio/unknown"/>
  <Default Extension="rmi" ContentType="audio/unknown"/>
  <Default Extension="mp3" ContentType="audio/unknown"/>
  <Default Extension="wav" ContentType="audio/wav"/>
  <Default Extension="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</Types>
</file>

<file path=_rels/.rels><?xml version="1.0" encoding="UTF-8" standalone="yes" 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12192000"/>
  <p:defaultTextStyle>
    <a:lvl1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1pPr>
    <a:lvl2pPr marL="457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2pPr>
    <a:lvl3pPr marL="914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3pPr>
    <a:lvl4pPr marL="1371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4pPr>
    <a:lvl5pPr marL="18288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5pPr>
    <a:lvl6pPr marL="22860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6pPr>
    <a:lvl7pPr marL="2743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7pPr>
    <a:lvl8pPr marL="3200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8pPr>
    <a:lvl9pPr marL="3657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9pPr>
  </p:defaultTextStyle>
</p:presentation>
</file>

<file path=ppt/presProps.xml><?xml version="1.0" encoding="utf-8"?>
<p:presentation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howPr showNarration="1">
    <p:penClr>
      <a:srgbClr val="0000FF"/>
    </p:penClr>
  </p:showPr>
  <p:extLst>
    <p:ext uri="smNativeData">
      <pr:smAppRevision xmlns:pr="smNativeData" xmlns="smNativeData" dt="1791147213" val="1234" rev64="64" revOS="3"/>
      <pr:smFileRevision xmlns:pr="smNativeData" xmlns="smNativeData" dt="1791147213" val="101"/>
      <pr:guideOptions xmlns:pr="smNativeData" xmlns="smNativeData" dt="1791147213" snapToBorders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lideViewPr>
    <p:cSldViewPr snapToGrid="0" snapToObjects="1">
      <p:cViewPr varScale="1">
        <p:scale>
          <a:sx n="97" d="100"/>
          <a:sy n="97" d="100"/>
        </p:scale>
        <p:origin x="1032" y="211"/>
      </p:cViewPr>
    </p:cSldViewPr>
  </p:slideViewPr>
  <p:outlineViewPr>
    <p:cViewPr>
      <p:scale>
        <a:sx n="33" d="100"/>
        <a:sy n="33" d="100"/>
      </p:scale>
      <p:origin x="0" y="0"/>
    </p:cViewPr>
  </p:outlineViewPr>
  <p:sorterViewPr>
    <p:cViewPr>
      <p:scale>
        <a:sx n="19" d="100"/>
        <a:sy n="19" d="100"/>
      </p:scale>
      <p:origin x="0" y="0"/>
    </p:cViewPr>
  </p:sorterViewPr>
  <p:notesViewPr>
    <p:cSldViewPr snapToGrid="0" snapToObjects="1">
      <p:cViewPr>
        <p:scale>
          <a:sx n="97" d="100"/>
          <a:sy n="97" d="100"/>
        </p:scale>
        <p:origin x="1032" y="211"/>
      </p:cViewPr>
    </p:cSldViewPr>
  </p:notesViewPr>
  <p:gridSpacing cx="78028800" cy="78028800"/>
</p:viewPr>
</file>

<file path=ppt/_rels/presentation.xml.rels><?xml version="1.0" encoding="UTF-8" standalone="yes" 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tableStyles" Target="tableStyles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"1.0" encoding="UTF-8" standalone="yes" 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 noChangeArrowheads="1"/>
            <a:extLst>
              <a:ext uri="smNativeData">
                <pr:smNativeData xmlns:pr="smNativeData" xmlns="smNativeData" val="SMDATA_15_zbzCah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AAAAAAAAAABIEgAA0wIAABAAAAAmAAAACAAAAD+PAAAAAAAA"/>
              </a:ext>
            </a:extLst>
          </p:cNvSpPr>
          <p:nvPr>
            <p:ph type="hdr" sz="quarter"/>
          </p:nvPr>
        </p:nvSpPr>
        <p:spPr>
          <a:xfrm>
            <a:off x="0" y="0"/>
            <a:ext cx="2971800" cy="459105"/>
          </a:xfrm>
          <a:prstGeom prst="rect">
            <a:avLst/>
          </a:prstGeo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algn="l">
              <a:defRPr sz="1200" cap="none"/>
            </a:lvl1pPr>
          </a:lstStyle>
          <a:p>
            <a:pPr/>
          </a:p>
        </p:txBody>
      </p:sp>
      <p:sp>
        <p:nvSpPr>
          <p:cNvPr id="3" name="Date Placeholder 2"/>
          <p:cNvSpPr>
            <a:spLocks noGrp="1" noChangeArrowheads="1"/>
            <a:extLst>
              <a:ext uri="smNativeData">
                <pr:smNativeData xmlns:pr="smNativeData" xmlns="smNativeData" val="SMDATA_15_zbzCah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AAAAAAuKgAA0wIAABAAAAAmAAAACAAAAD+PAAAAAAAA"/>
              </a:ext>
            </a:extLst>
          </p:cNvSpPr>
          <p:nvPr>
            <p:ph type="dt" idx="10"/>
          </p:nvPr>
        </p:nvSpPr>
        <p:spPr>
          <a:xfrm>
            <a:off x="3884930" y="0"/>
            <a:ext cx="2971800" cy="459105"/>
          </a:xfrm>
          <a:prstGeom prst="rect">
            <a:avLst/>
          </a:prstGeo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algn="r">
              <a:defRPr sz="1200" cap="none"/>
            </a:lvl1pPr>
          </a:lstStyle>
          <a:p>
            <a:pPr/>
            <a:fld id="{59D6DEE1-AFB4-8328-FA6E-597D90200C0C}" type="datetime1">
              <a:t>7/23/19</a:t>
            </a:fld>
          </a:p>
        </p:txBody>
      </p:sp>
      <p:sp>
        <p:nvSpPr>
          <p:cNvPr id="4" name="Slide Image Placeholder 3"/>
          <p:cNvSpPr>
            <a:spLocks noGrp="1" noChangeArrowheads="1"/>
            <a:extLst>
              <a:ext uri="smNativeData">
                <pr:smNativeData xmlns:pr="smNativeData" xmlns="smNativeData" val="SMDATA_15_zbzCah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L8PAAD/HwAA"/>
              </a:ext>
            </a:extLst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 algn="ctr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/>
            <a:endParaRPr lang="en-us" cap="none"/>
          </a:p>
        </p:txBody>
      </p:sp>
      <p:sp>
        <p:nvSpPr>
          <p:cNvPr id="5" name="Notes Placeholder 4"/>
          <p:cNvSpPr>
            <a:spLocks noGrp="1" noChangeArrowheads="1"/>
            <a:extLst>
              <a:ext uri="smNativeData">
                <pr:smNativeData xmlns:pr="smNativeData" xmlns="smNativeData" val="SMDATA_15_zbzCah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NG5QMc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AQAABIbAAD4JQAAODEAABAAAAAmAAAACAAAAD8PAAD/HwAA"/>
              </a:ext>
            </a:extLst>
          </p:cNvSpPr>
          <p:nvPr>
            <p:ph type="body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/>
            <a:r>
              <a:rPr lang="en-us" cap="none"/>
              <a:t>Click to edit Master text styles</a:t>
            </a:r>
            <a:endParaRPr lang="en-us" cap="none"/>
          </a:p>
          <a:p>
            <a:pPr lvl="1"/>
            <a:r>
              <a:rPr lang="en-us" cap="none"/>
              <a:t>Second level</a:t>
            </a:r>
            <a:endParaRPr lang="en-us" cap="none"/>
          </a:p>
          <a:p>
            <a:pPr lvl="2"/>
            <a:r>
              <a:rPr lang="en-us" cap="none"/>
              <a:t>Third level</a:t>
            </a:r>
            <a:endParaRPr lang="en-us" cap="none"/>
          </a:p>
          <a:p>
            <a:pPr lvl="3"/>
            <a:r>
              <a:rPr lang="en-us" cap="none"/>
              <a:t>Fourth level</a:t>
            </a:r>
            <a:endParaRPr lang="en-us" cap="none"/>
          </a:p>
          <a:p>
            <a:pPr lvl="4"/>
            <a:r>
              <a:rPr lang="en-us" cap="none"/>
              <a:t>Fifth level</a:t>
            </a:r>
            <a:endParaRPr lang="en-us" cap="none"/>
          </a:p>
        </p:txBody>
      </p:sp>
      <p:sp>
        <p:nvSpPr>
          <p:cNvPr id="6" name="Footer Placeholder 5"/>
          <p:cNvSpPr>
            <a:spLocks noGrp="1" noChangeArrowheads="1"/>
            <a:extLst>
              <a:ext uri="smNativeData">
                <pr:smNativeData xmlns:pr="smNativeData" xmlns="smNativeData" val="SMDATA_15_zbzCah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AAAAAG41AABIEgAAQDgAABAAAAAmAAAACAAAAL+PAAD/HwAA"/>
              </a:ext>
            </a:extLst>
          </p:cNvSpPr>
          <p:nvPr>
            <p:ph type="ftr" sz="quarter" idx="11"/>
          </p:nvPr>
        </p:nvSpPr>
        <p:spPr>
          <a:xfrm>
            <a:off x="0" y="8685530"/>
            <a:ext cx="2971800" cy="4584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l">
              <a:defRPr sz="1200" cap="none"/>
            </a:lvl1pPr>
          </a:lstStyle>
          <a:p>
            <a:pPr/>
          </a:p>
        </p:txBody>
      </p:sp>
      <p:sp>
        <p:nvSpPr>
          <p:cNvPr id="7" name="Slide Number Placeholder 6"/>
          <p:cNvSpPr>
            <a:spLocks noGrp="1" noChangeArrowheads="1"/>
            <a:extLst>
              <a:ext uri="smNativeData">
                <pr:smNativeData xmlns:pr="smNativeData" xmlns="smNativeData" val="SMDATA_15_zbzCah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M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G41AAAuKgAAQDgAABAAAAAmAAAACAAAAL+PAAD/Hw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r">
              <a:defRPr sz="1200" cap="none"/>
            </a:lvl1pPr>
          </a:lstStyle>
          <a:p>
            <a:pPr/>
            <a:fld id="{249F9A77-39C9-CA6C-8727-CF39D469719A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1pPr>
    <a:lvl2pPr marL="457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2pPr>
    <a:lvl3pPr marL="914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3pPr>
    <a:lvl4pPr marL="1371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4pPr>
    <a:lvl5pPr marL="18288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5pPr>
    <a:lvl6pPr marL="22860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6pPr>
    <a:lvl7pPr marL="2743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7pPr>
    <a:lvl8pPr marL="3200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8pPr>
    <a:lvl9pPr marL="3657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9pPr>
  </p:notesStyle>
</p:notesMaster>
</file>

<file path=ppt/notesSlides/_rels/notesSlide1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Relationship Id="rId3" Type="http://schemas.openxmlformats.org/officeDocument/2006/relationships/themeOverride" Target="../theme/themeOverride1.xml"/></Relationships>
</file>

<file path=ppt/notesSlides/_rels/notesSlide2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Relationship Id="rId3" Type="http://schemas.openxmlformats.org/officeDocument/2006/relationships/themeOverride" Target="../theme/themeOverride2.xml"/></Relationships>
</file>

<file path=ppt/notesSlides/_rels/notesSlide3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Relationship Id="rId3" Type="http://schemas.openxmlformats.org/officeDocument/2006/relationships/themeOverride" Target="../theme/themeOverride3.xml"/></Relationships>
</file>

<file path=ppt/notesSlides/_rels/notesSlide4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Relationship Id="rId3" Type="http://schemas.openxmlformats.org/officeDocument/2006/relationships/themeOverride" Target="../theme/themeOverride4.xml"/></Relationships>
</file>

<file path=ppt/notesSlides/_rels/notesSlide5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Relationship Id="rId3" Type="http://schemas.openxmlformats.org/officeDocument/2006/relationships/themeOverride" Target="../theme/themeOverride5.xml"/></Relationships>
</file>

<file path=ppt/notesSlides/_rels/notesSlide6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Relationship Id="rId3" Type="http://schemas.openxmlformats.org/officeDocument/2006/relationships/themeOverride" Target="../theme/themeOverride6.xml"/></Relationships>
</file>

<file path=ppt/notesSlides/_rels/notesSlide7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Relationship Id="rId3" Type="http://schemas.openxmlformats.org/officeDocument/2006/relationships/themeOverride" Target="../theme/themeOverride7.xml"/></Relationships>
</file>

<file path=ppt/notesSlides/_rels/notesSlide8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Relationship Id="rId3" Type="http://schemas.openxmlformats.org/officeDocument/2006/relationships/themeOverride" Target="../theme/themeOverride8.xml"/></Relationships>
</file>

<file path=ppt/notesSlides/_rels/notesSlide9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Relationship Id="rId3" Type="http://schemas.openxmlformats.org/officeDocument/2006/relationships/themeOverride" Target="../theme/themeOverride9.xml"/></Relationships>
</file>

<file path=ppt/notesSlides/_rels/notesSlide10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Relationship Id="rId3" Type="http://schemas.openxmlformats.org/officeDocument/2006/relationships/themeOverride" Target="../theme/themeOverride10.xml"/></Relationships>
</file>

<file path=ppt/notesSlides/notesSlide1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zbzCah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zbzCah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r>
              <a:rPr lang="en-us" cap="none"/>
              <a:t>Hook: the phone is where focus goes to die. mawaqit-desktop moves the prayer clock to the machine you actually work on.</a:t>
            </a:r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zbzCah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8135C57-19D5-46AA-9BAB-EFFF12E56DBA}" type="slidenum">
              <a:t>1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zbzCah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VTIi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zbzCah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r>
              <a:rPr lang="en-us" cap="none"/>
              <a:t>The problem is structural: prayer info and distraction live behind the same lock screen.</a:t>
            </a:r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zbzCah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557E4E19-57B8-2BB8-F6C6-A1ED008800F4}" type="slidenum">
              <a:rPr lang="en-us" cap="none"/>
              <a:t>2</a:t>
            </a:fld>
            <a:endParaRPr lang="en-us"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zbzCah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zbzCah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r>
              <a:rPr lang="en-us" cap="none"/>
              <a:t>Positioning: the desktop is the only screen without an infinite scroll attached to it.</a:t>
            </a:r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zbzCah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0172675B-15EC-2791-A2CA-E3C4298454B6}" type="slidenum">
              <a:rPr lang="en-us" cap="none"/>
              <a:t>3</a:t>
            </a:fld>
            <a:endParaRPr lang="en-us"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4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zbzCah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zbzCah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r>
              <a:rPr lang="en-us" cap="none"/>
              <a:t>Zero-friction onboarding is the point: keyless by design, works in under a minute.</a:t>
            </a:r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zbzCah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018BB768-26EC-DE41-A233-D014F97D5485}" type="slidenum">
              <a:rPr lang="en-us" cap="none"/>
              <a:t>4</a:t>
            </a:fld>
            <a:endParaRPr lang="en-us"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5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zbzCah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zbzCah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r>
              <a:rPr lang="en-us" cap="none"/>
              <a:t>v0.2.0 headline: each prayer is configured independently — modes, sound file, volume, and a single on-time reminder.</a:t>
            </a:r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zbzCah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2DDC49A5-EBC0-89BF-8E64-1DEA072A7848}" type="slidenum">
              <a:rPr lang="en-us" cap="none"/>
              <a:t>5</a:t>
            </a:fld>
            <a:endParaRPr lang="en-us"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6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zbzCah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zbzCah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r>
              <a:rPr lang="en-us" cap="none"/>
              <a:t>These are the retention details — the app respects attention instead of demanding it.</a:t>
            </a:r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zbzCah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0FF989D-D3DD-AA6E-9347-253BD6096570}" type="slidenum">
              <a:rPr lang="en-us" cap="none"/>
              <a:t>6</a:t>
            </a:fld>
            <a:endParaRPr lang="en-us"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7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zbzCah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zbzCah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r>
              <a:rPr lang="en-us" cap="none"/>
              <a:t>Trust slide: the absence of infrastructure is the privacy policy.</a:t>
            </a:r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zbzCah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051B2FFE-B0E8-4ED9-A6A3-468C61ED5013}" type="slidenum">
              <a:rPr lang="en-us" cap="none"/>
              <a:t>7</a:t>
            </a:fld>
            <a:endParaRPr lang="en-us"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8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zbzCah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zbzCah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r>
              <a:rPr lang="en-us" cap="none"/>
              <a:t>The ~25 MB figure is the actual size of the Linux release binary.</a:t>
            </a:r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zbzCah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6EE72F09-4783-B2D9-CD5F-B18C61113BE4}" type="slidenum">
              <a:rPr lang="en-us" cap="none"/>
              <a:t>8</a:t>
            </a:fld>
            <a:endParaRPr lang="en-us"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9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zbzCah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zbzCah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r>
              <a:rPr lang="en-us" cap="none"/>
              <a:t>Audience slide — invite the reader to recognize themselves.</a:t>
            </a:r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zbzCah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2B389782-CCC6-6D61-8880-3A34D9CE7E6F}" type="slidenum">
              <a:rPr lang="en-us" cap="none"/>
              <a:t>9</a:t>
            </a:fld>
            <a:endParaRPr lang="en-us"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0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zbzCah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GbGg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zbzCah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HXmg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r>
              <a:rPr lang="en-us" cap="none"/>
              <a:t>CTA. Replace the repo URL with the public link before posting.</a:t>
            </a:r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zbzCah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4B8F9623-6DA6-DA60-E837-9B35D8791ECE}" type="slidenum">
              <a:rPr lang="en-us" cap="none"/>
              <a:t>10</a:t>
            </a:fld>
            <a:endParaRPr lang="en-us"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slideLayouts/_rels/slideLayout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 preserve="1">
  <p:cSld name="DEFAU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cap="none" spc="0" baseline="0">
          <a:solidFill>
            <a:schemeClr val="tx1"/>
          </a:solidFill>
          <a:effectLst/>
          <a:latin typeface="Calibri Light" pitchFamily="0" charset="0"/>
          <a:ea typeface="Calibri Light" pitchFamily="0" charset="0"/>
          <a:cs typeface="Calibri Light" pitchFamily="0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9pPr>
    </p:titleStyle>
    <p:bodyStyle>
      <a:lvl1pPr marL="342900" marR="0" indent="-3429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•"/>
        <a:tabLst/>
        <a:defRPr sz="32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1pPr>
      <a:lvl2pPr marL="742950" marR="0" indent="-28575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–"/>
        <a:tabLst/>
        <a:defRPr sz="2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2pPr>
      <a:lvl3pPr marL="1143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•"/>
        <a:tabLst/>
        <a:defRPr sz="24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3pPr>
      <a:lvl4pPr marL="1600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–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4pPr>
      <a:lvl5pPr marL="20574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»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5pPr>
      <a:lvl6pPr marL="25146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6pPr>
      <a:lvl7pPr marL="29718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7pPr>
      <a:lvl8pPr marL="3429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8pPr>
      <a:lvl9pPr marL="3886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9pPr>
    </p:otherStyle>
  </p:txStyles>
</p:sldMaster>
</file>

<file path=ppt/slides/_rels/slide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1"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extLst>
              <a:ext uri="smNativeData">
                <pr:smNativeData xmlns:pr="smNativeData" xmlns="smNativeData" val="SMDATA_15_zbzCahMAAAAlAAAAZgAAAA0AAAAAkAAAAEgAAACQAAAASAAAAAAAAAAAAAAAAAAAAAEAAABQAAAAAAAAAAAA8D8AAAAAAADwPwAAAAAAAOA/AAAAAAAA4D8AAAAAAADgPwAAAAAAAOA/AAAAAAAA4D8AAAAAAADgPwAAAAAAAOA/AAAAAAAA4D8CAAAAjAAAAAEAAAAAAAAA/9Bf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9BfAP///wEAAAAAAAAAAAAAAAAAAAAAAAAAAAAAAAAAAAAAAAAAAAAAAAB/f38A5+bmA8zMzADAwP8Af39/AAAAAAAAAAAAAAAAAAAAAAAAAAAAIQAAABgAAAAUAAAA8AMAAH0DAACGBgAAEwYAABAAAAAmAAAACAAAAP//////////"/>
              </a:ext>
            </a:extLst>
          </p:cNvSpPr>
          <p:nvPr/>
        </p:nvSpPr>
        <p:spPr>
          <a:xfrm>
            <a:off x="640080" y="567055"/>
            <a:ext cx="420370" cy="420370"/>
          </a:xfrm>
          <a:prstGeom prst="ellipse">
            <a:avLst/>
          </a:prstGeom>
          <a:solidFill>
            <a:srgbClr val="FFD05F"/>
          </a:solidFill>
          <a:ln>
            <a:noFill/>
          </a:ln>
          <a:effectLst/>
        </p:spPr>
      </p:sp>
      <p:sp>
        <p:nvSpPr>
          <p:cNvPr id="3" name="Shape 1"/>
          <p:cNvSpPr>
            <a:extLst>
              <a:ext uri="smNativeData">
                <pr:smNativeData xmlns:pr="smNativeData" xmlns="smNativeData" val="SMDATA_15_zbzCahMAAAAlAAAAZgAAAA0AAAAAkAAAAEgAAACQAAAASAAAAAAAAAAAAAAAAAAAAAEAAABQAAAAAAAAAAAA8D8AAAAAAADwPwAAAAAAAOA/AAAAAAAA4D8AAAAAAADgPwAAAAAAAOA/AAAAAAAA4D8AAAAAAADgPwAAAAAAAOA/AAAAAAAA4D8CAAAAjAAAAAEAAAAAAAAACAkL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6j3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CAkLAP///wEAAAAAAAAAAAAAAAAAAAAAAAAAAAAAAAAAAAAAAAAAAAAAAAB/f38A5+bmA8zMzADAwP8Af39/AAAAAAAAAAAAAAAAAAAAAAAAAAAAIQAAABgAAAAUAAAAqQQAADsDAADjBgAAdAUAABAAAAAmAAAACAAAAP//////////"/>
              </a:ext>
            </a:extLst>
          </p:cNvSpPr>
          <p:nvPr/>
        </p:nvSpPr>
        <p:spPr>
          <a:xfrm>
            <a:off x="757555" y="525145"/>
            <a:ext cx="361950" cy="361315"/>
          </a:xfrm>
          <a:prstGeom prst="ellipse">
            <a:avLst/>
          </a:prstGeom>
          <a:solidFill>
            <a:srgbClr val="08090B"/>
          </a:solidFill>
          <a:ln>
            <a:noFill/>
          </a:ln>
          <a:effectLst/>
        </p:spPr>
      </p:sp>
      <p:sp>
        <p:nvSpPr>
          <p:cNvPr id="4" name="Text 2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igcAALYDAACqGgAA2gUAABAAAAAmAAAACAAAAP//////////"/>
              </a:ext>
            </a:extLst>
          </p:cNvSpPr>
          <p:nvPr/>
        </p:nvSpPr>
        <p:spPr>
          <a:xfrm>
            <a:off x="1225550" y="603250"/>
            <a:ext cx="3108960" cy="3479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500" b="1" cap="none">
                <a:solidFill>
                  <a:srgbClr val="FFFFF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mawaqit-desktop</a:t>
            </a:r>
            <a:endParaRPr lang="en-us" sz="1500" cap="none"/>
          </a:p>
        </p:txBody>
      </p:sp>
      <p:sp>
        <p:nvSpPr>
          <p:cNvPr id="5" name="Text 3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igcAAL0FAABqIQAAbQcAABAAAAAmAAAACAAAAP//////////"/>
              </a:ext>
            </a:extLst>
          </p:cNvSpPr>
          <p:nvPr/>
        </p:nvSpPr>
        <p:spPr>
          <a:xfrm>
            <a:off x="1225550" y="932815"/>
            <a:ext cx="420624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950" cap="none" spc="65">
                <a:solidFill>
                  <a:srgbClr val="6B7076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PRAYER TIMES FOR PEOPLE WHO WORK</a:t>
            </a:r>
            <a:endParaRPr lang="en-us" sz="950" cap="none"/>
          </a:p>
        </p:txBody>
      </p:sp>
      <p:sp>
        <p:nvSpPr>
          <p:cNvPr id="6" name="Text 4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8AMAAF0LAAA4KAAAbRAAABAAAAAmAAAACAAAAP//////////"/>
              </a:ext>
            </a:extLst>
          </p:cNvSpPr>
          <p:nvPr/>
        </p:nvSpPr>
        <p:spPr>
          <a:xfrm>
            <a:off x="640080" y="1847215"/>
            <a:ext cx="5897880" cy="8229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4400" b="1" cap="none">
                <a:solidFill>
                  <a:srgbClr val="FFFFF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Deep work.</a:t>
            </a:r>
            <a:endParaRPr lang="en-us" sz="4400" cap="none"/>
          </a:p>
        </p:txBody>
      </p:sp>
      <p:sp>
        <p:nvSpPr>
          <p:cNvPr id="7" name="Text 5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8AMAAG0QAAA4KAAAfRUAABAAAAAmAAAACAAAAP//////////"/>
              </a:ext>
            </a:extLst>
          </p:cNvSpPr>
          <p:nvPr/>
        </p:nvSpPr>
        <p:spPr>
          <a:xfrm>
            <a:off x="640080" y="2670175"/>
            <a:ext cx="5897880" cy="8229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4400" b="1" cap="none">
                <a:solidFill>
                  <a:srgbClr val="FFD05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Zero missed prayers.</a:t>
            </a:r>
            <a:endParaRPr lang="en-us" sz="4400" cap="none"/>
          </a:p>
        </p:txBody>
      </p:sp>
      <p:sp>
        <p:nvSpPr>
          <p:cNvPr id="8" name="Text 6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/msP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8AMAAIMXAAAAJAAA2xwAABAAAAAmAAAACAAAAP//////////"/>
              </a:ext>
            </a:extLst>
          </p:cNvSpPr>
          <p:nvPr/>
        </p:nvSpPr>
        <p:spPr>
          <a:xfrm>
            <a:off x="640080" y="3822065"/>
            <a:ext cx="5212080" cy="8686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cap="none">
                <a:solidFill>
                  <a:srgbClr val="A6ABB2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Prayer times live in your desktop tray —</a:t>
            </a:r>
            <a:endParaRPr lang="en-us" sz="1600" cap="none"/>
          </a:p>
          <a:p>
            <a:pPr marL="0" indent="0">
              <a:lnSpc>
                <a:spcPct val="125000"/>
              </a:lnSpc>
              <a:buNone/>
            </a:pPr>
            <a:r>
              <a:rPr lang="en-us" sz="1600" cap="none">
                <a:solidFill>
                  <a:srgbClr val="A6ABB2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so your phone can stay face-down.</a:t>
            </a:r>
            <a:endParaRPr lang="en-us" sz="1600" cap="none"/>
          </a:p>
        </p:txBody>
      </p:sp>
      <p:sp>
        <p:nvSpPr>
          <p:cNvPr id="9" name="Text 7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8AMAANgkAADQJgAA0CYAABAAAAAmAAAACAAAAP//////////"/>
              </a:ext>
            </a:extLst>
          </p:cNvSpPr>
          <p:nvPr/>
        </p:nvSpPr>
        <p:spPr>
          <a:xfrm>
            <a:off x="640080" y="5989320"/>
            <a:ext cx="566928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200" cap="none">
                <a:solidFill>
                  <a:srgbClr val="6B7076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Free &amp; open source   ·   Windows · macOS · Linux</a:t>
            </a:r>
            <a:endParaRPr lang="en-us" sz="1200" cap="none"/>
          </a:p>
        </p:txBody>
      </p:sp>
      <p:sp>
        <p:nvSpPr>
          <p:cNvPr id="10" name="Shape 8"/>
          <p:cNvSpPr>
            <a:extLst>
              <a:ext uri="smNativeData">
                <pr:smNativeData xmlns:pr="smNativeData" xmlns="smNativeData" val="SMDATA_15_zbzCahMAAAAlAAAAZQAAAA0AAAAAkAAAAEgAAACQAAAASAAAAAAAAAAAAAAAAAAAAAEAAABQAAAAmfViKCfapT8AAAAAAADwvwAAAAAAAOA/AAAAAAAA4D8AAAAAAADgPwAAAAAAAOA/AAAAAAAA4D8AAAAAAADgPwAAAAAAAOA/AAAAAAAA4D8CAAAAjAAAAAEAAAAAAAAAFhkdAP///wgAAAAAAAAAAAAAAAAAAAAAAAAAAAAAAAAAAAAAeAAAAAEAAABAAAAAAAAAAAAAAABaAAAAAAAAAAAAAAAAAAAAAAAAAAAAAAAAAAAAAAAAAAAAAAAAAAAAAAAAAAAAAAAAAAAAAAAAAAAAAAAAAAAAAAAAAAAAAAAAAAAAFAAAADwAAAABAAAAAAAAACovNQAUAAAAAQAAACMAAAAjAAAAIwAAAB4AAAAAAAAAZAAAAGQAAAAAAAAAZAAAAGQAAAAVAAAAYAAAAAAAAAAAAAAADwAAACADAAAAAAAAAAAAAAEAAACgMgAAVgcAAKr4//8BAAAAf39/AAEAAABkAAAAAAAAABQAAABAHwAAAAAAACYAAAAAAAAAwOD//wAAAAAmAAAAZAAAABYAAABMAAAAAQAAAAAAAAAGAAAAAAAAAAEAAAAAAAAANwAAAAAAAAA8AAAAZAAAAGQAAAAAAAAAy8vLADcAAAAAAAAAPAAAAGQAAABkAAAAAAAAABcAAAAUAAAAAAAAAAAAAAD/fwAA/38AAAAAAAAJAAAABAAAAP////8eAAAAaAAAAAAAAAAAAAAAAAAAAAAAAAAAAAAAECcAABAnAAAAAAAAAAAAAAAAAAAAAAAAAAAAAAAAAAAAAAAAAAAAAM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FhkdAP///wEAAAAAAAAAAAAAAAAAAAAAAAAAAAAAAAAAAAAAAAAAACovNQB/f38AAAAAAMvLywDAwP8Af39/AAAAAAAAAAAAAAAAAAAAAAAAAAAAIQAAABgAAAAUAAAA1igAAOYJAADKSAAAniEAABAAAAAmAAAACAAAAP//////////"/>
              </a:ext>
            </a:extLst>
          </p:cNvSpPr>
          <p:nvPr/>
        </p:nvSpPr>
        <p:spPr>
          <a:xfrm>
            <a:off x="6638290" y="1609090"/>
            <a:ext cx="5194300" cy="3855720"/>
          </a:xfrm>
          <a:prstGeom prst="roundRect">
            <a:avLst>
              <a:gd name="adj" fmla="val 2134"/>
            </a:avLst>
          </a:prstGeom>
          <a:solidFill>
            <a:srgbClr val="16191D"/>
          </a:solidFill>
          <a:ln w="12700" cap="flat" cmpd="sng" algn="ctr">
            <a:solidFill>
              <a:srgbClr val="2A2F35"/>
            </a:solidFill>
            <a:prstDash val="solid"/>
            <a:headEnd type="none"/>
            <a:tailEnd type="none"/>
          </a:ln>
          <a:effectLst>
            <a:outerShdw blurRad="127000" dist="38100" dir="5400000" algn="bl">
              <a:srgbClr val="000000">
                <a:alpha val="45000"/>
              </a:srgbClr>
            </a:outerShdw>
          </a:effectLst>
        </p:spPr>
      </p:sp>
      <p:sp>
        <p:nvSpPr>
          <p:cNvPr id="11" name="Text 9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B8fHv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1igAAFoiAADKSAAACiQAABAAAAAmAAAACAAAAP//////////"/>
              </a:ext>
            </a:extLst>
          </p:cNvSpPr>
          <p:nvPr/>
        </p:nvSpPr>
        <p:spPr>
          <a:xfrm>
            <a:off x="6638290" y="5584190"/>
            <a:ext cx="51943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1100" i="1" cap="none">
                <a:solidFill>
                  <a:srgbClr val="6B7076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Today's times for your mosque — next prayer on countdown.</a:t>
            </a:r>
            <a:endParaRPr lang="en-us" sz="1100" cap="none"/>
          </a:p>
        </p:txBody>
      </p:sp>
      <p:pic>
        <p:nvPicPr>
          <p:cNvPr id="12" name="Picture1"/>
          <p:cNvPicPr>
            <a:picLocks noChangeAspect="1"/>
            <a:extLst>
              <a:ext uri="smNativeData">
                <pr:smNativeData xmlns:pr="smNativeData" xmlns="smNativeData" val="SMDATA_17_zbzCahMAAAAlAAAAEQAAAC8B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DAwMD/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K4pAACGCgAAtEcAAO0gAAAA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6775450" y="1710690"/>
            <a:ext cx="4880610" cy="364172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2"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O0CAADQLwAAugQAABAAAAAmAAAACAAAAP//////////"/>
              </a:ext>
            </a:extLst>
          </p:cNvSpPr>
          <p:nvPr/>
        </p:nvSpPr>
        <p:spPr>
          <a:xfrm>
            <a:off x="457200" y="475615"/>
            <a:ext cx="7315200" cy="2927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250" b="1" cap="none" spc="91">
                <a:solidFill>
                  <a:srgbClr val="FFD05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01  ·  THE REAL COST</a:t>
            </a:r>
            <a:endParaRPr lang="en-us" sz="1250" cap="none"/>
          </a:p>
        </p:txBody>
      </p:sp>
      <p:sp>
        <p:nvSpPr>
          <p:cNvPr id="3" name="Text 1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DxwOn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C0FAAAQMgAApQsAABAAAAAmAAAACAAAAP//////////"/>
              </a:ext>
            </a:extLst>
          </p:cNvSpPr>
          <p:nvPr/>
        </p:nvSpPr>
        <p:spPr>
          <a:xfrm>
            <a:off x="457200" y="841375"/>
            <a:ext cx="7680960" cy="10515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3100" b="1" cap="none">
                <a:solidFill>
                  <a:srgbClr val="FFFFF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Your prayer reminder lives in the noisiest place you own.</a:t>
            </a:r>
            <a:endParaRPr lang="en-us" sz="3100" cap="none"/>
          </a:p>
        </p:txBody>
      </p:sp>
      <p:sp>
        <p:nvSpPr>
          <p:cNvPr id="4" name="Shape 2"/>
          <p:cNvSpPr>
            <a:extLst>
              <a:ext uri="smNativeData">
                <pr:smNativeData xmlns:pr="smNativeData" xmlns="smNativeData" val="SMDATA_15_zbzCahMAAAAlAAAAZgAAAA0AAAAAkAAAAEgAAACQAAAASAAAAAAAAAAAAAAAAAAAAAEAAABQAAAAAAAAAAAA8D8AAAAAAADwPwAAAAAAAOA/AAAAAAAA4D8AAAAAAADgPwAAAAAAAOA/AAAAAAAA4D8AAAAAAADgPwAAAAAAAOA/AAAAAAAA4D8CAAAAjAAAAAEAAAAAAAAA/9Bf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C9hOn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9BfAP///wEAAAAAAAAAAAAAAAAAAAAAAAAAAAAAAAAAAAAAAAAAAAAAAAB/f38A5+bmA8zMzADAwP8Af39/AAAAAAAAAAAAAAAAAAAAAAAAAAAAIQAAABgAAAAUAAAA7QIAAOUNAAC2AwAArg4AABAAAAAmAAAACAAAAP//////////"/>
              </a:ext>
            </a:extLst>
          </p:cNvSpPr>
          <p:nvPr/>
        </p:nvSpPr>
        <p:spPr>
          <a:xfrm>
            <a:off x="475615" y="2258695"/>
            <a:ext cx="127635" cy="127635"/>
          </a:xfrm>
          <a:prstGeom prst="ellipse">
            <a:avLst/>
          </a:prstGeom>
          <a:solidFill>
            <a:srgbClr val="FFD05F"/>
          </a:solidFill>
          <a:ln>
            <a:noFill/>
          </a:ln>
          <a:effectLst/>
        </p:spPr>
      </p:sp>
      <p:sp>
        <p:nvSpPr>
          <p:cNvPr id="5" name="Text 3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EAUAAA0NAACwLgAAag8AABAAAAAmAAAACAAAAP//////////"/>
              </a:ext>
            </a:extLst>
          </p:cNvSpPr>
          <p:nvPr/>
        </p:nvSpPr>
        <p:spPr>
          <a:xfrm>
            <a:off x="822960" y="2121535"/>
            <a:ext cx="6766560" cy="384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850" b="1" cap="none">
                <a:solidFill>
                  <a:srgbClr val="FFFFF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One glance becomes twenty minutes.</a:t>
            </a:r>
            <a:endParaRPr lang="en-us" sz="1850" cap="none"/>
          </a:p>
        </p:txBody>
      </p:sp>
      <p:sp>
        <p:nvSpPr>
          <p:cNvPr id="6" name="Text 4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EAUAAIYPAABALwAAAxMAABAAAAAmAAAACAAAAP//////////"/>
              </a:ext>
            </a:extLst>
          </p:cNvSpPr>
          <p:nvPr/>
        </p:nvSpPr>
        <p:spPr>
          <a:xfrm>
            <a:off x="822960" y="2523490"/>
            <a:ext cx="6858000" cy="5670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350" cap="none">
                <a:solidFill>
                  <a:srgbClr val="A6ABB2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Checking the next prayer time means picking up the phone — and the phone has other plans.</a:t>
            </a:r>
            <a:endParaRPr lang="en-us" sz="1350" cap="none"/>
          </a:p>
        </p:txBody>
      </p:sp>
      <p:sp>
        <p:nvSpPr>
          <p:cNvPr id="7" name="Shape 5"/>
          <p:cNvSpPr>
            <a:extLst>
              <a:ext uri="smNativeData">
                <pr:smNativeData xmlns:pr="smNativeData" xmlns="smNativeData" val="SMDATA_15_zbzCahMAAAAlAAAACg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CovNQ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CovNQB/f38A5+bmA8zMzADAwP8Af39/AAAAAAAAAAAAAAAAAAAAAAAAAAAAIQAAABgAAAAUAAAAEAUAAAYUAAAgLgAABhQAABAAAAAmAAAACAAAAP//////////"/>
              </a:ext>
            </a:extLst>
          </p:cNvSpPr>
          <p:nvPr/>
        </p:nvSpPr>
        <p:spPr>
          <a:xfrm>
            <a:off x="822960" y="3255010"/>
            <a:ext cx="6675120" cy="0"/>
          </a:xfrm>
          <a:prstGeom prst="line">
            <a:avLst/>
          </a:prstGeom>
          <a:noFill/>
          <a:ln w="9525" cap="flat" cmpd="sng" algn="ctr">
            <a:solidFill>
              <a:srgbClr val="2A2F35"/>
            </a:solidFill>
            <a:prstDash val="solid"/>
            <a:headEnd type="none"/>
            <a:tailEnd type="none"/>
          </a:ln>
          <a:effectLst/>
        </p:spPr>
      </p:sp>
      <p:sp>
        <p:nvSpPr>
          <p:cNvPr id="8" name="Shape 6"/>
          <p:cNvSpPr>
            <a:extLst>
              <a:ext uri="smNativeData">
                <pr:smNativeData xmlns:pr="smNativeData" xmlns="smNativeData" val="SMDATA_15_zbzCahMAAAAlAAAAZgAAAA0AAAAAkAAAAEgAAACQAAAASAAAAAAAAAAAAAAAAAAAAAEAAABQAAAAAAAAAAAA8D8AAAAAAADwPwAAAAAAAOA/AAAAAAAA4D8AAAAAAADgPwAAAAAAAOA/AAAAAAAA4D8AAAAAAADgPwAAAAAAAOA/AAAAAAAA4D8CAAAAjAAAAAEAAAAAAAAA/9Bf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Ns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9BfAP///wEAAAAAAAAAAAAAAAAAAAAAAAAAAAAAAAAAAAAAAAAAAAAAAAB/f38A5+bmA8zMzADAwP8Af39/AAAAAAAAAAAAAAAAAAAAAAAAAAAAIQAAABgAAAAUAAAA7QIAAMUVAAC2AwAAjhYAABAAAAAmAAAACAAAAP//////////"/>
              </a:ext>
            </a:extLst>
          </p:cNvSpPr>
          <p:nvPr/>
        </p:nvSpPr>
        <p:spPr>
          <a:xfrm>
            <a:off x="475615" y="3538855"/>
            <a:ext cx="127635" cy="127635"/>
          </a:xfrm>
          <a:prstGeom prst="ellipse">
            <a:avLst/>
          </a:prstGeom>
          <a:solidFill>
            <a:srgbClr val="FFD05F"/>
          </a:solidFill>
          <a:ln>
            <a:noFill/>
          </a:ln>
          <a:effectLst/>
        </p:spPr>
      </p:sp>
      <p:sp>
        <p:nvSpPr>
          <p:cNvPr id="9" name="Text 7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zG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EAUAAO0UAACwLgAAShcAABAAAAAmAAAACAAAAP//////////"/>
              </a:ext>
            </a:extLst>
          </p:cNvSpPr>
          <p:nvPr/>
        </p:nvSpPr>
        <p:spPr>
          <a:xfrm>
            <a:off x="822960" y="3401695"/>
            <a:ext cx="6766560" cy="384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850" b="1" cap="none">
                <a:solidFill>
                  <a:srgbClr val="FFFFF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Silence it, and the adhan is gone.</a:t>
            </a:r>
            <a:endParaRPr lang="en-us" sz="1850" cap="none"/>
          </a:p>
        </p:txBody>
      </p:sp>
      <p:sp>
        <p:nvSpPr>
          <p:cNvPr id="10" name="Text 8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Bx4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EAUAAGYXAABALwAA4xoAABAAAAAmAAAACAAAAP//////////"/>
              </a:ext>
            </a:extLst>
          </p:cNvSpPr>
          <p:nvPr/>
        </p:nvSpPr>
        <p:spPr>
          <a:xfrm>
            <a:off x="822960" y="3803650"/>
            <a:ext cx="6858000" cy="5670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350" cap="none">
                <a:solidFill>
                  <a:srgbClr val="A6ABB2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A phone on Do Not Disturb swallows the one call that actually matters.</a:t>
            </a:r>
            <a:endParaRPr lang="en-us" sz="1350" cap="none"/>
          </a:p>
        </p:txBody>
      </p:sp>
      <p:sp>
        <p:nvSpPr>
          <p:cNvPr id="11" name="Shape 9"/>
          <p:cNvSpPr>
            <a:extLst>
              <a:ext uri="smNativeData">
                <pr:smNativeData xmlns:pr="smNativeData" xmlns="smNativeData" val="SMDATA_15_zbzCahMAAAAlAAAACg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CovNQ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Cc5g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CovNQB/f38A5+bmA8zMzADAwP8Af39/AAAAAAAAAAAAAAAAAAAAAAAAAAAAIQAAABgAAAAUAAAAEAUAAOYbAAAgLgAA5hsAABAAAAAmAAAACAAAAP//////////"/>
              </a:ext>
            </a:extLst>
          </p:cNvSpPr>
          <p:nvPr/>
        </p:nvSpPr>
        <p:spPr>
          <a:xfrm>
            <a:off x="822960" y="4535170"/>
            <a:ext cx="6675120" cy="0"/>
          </a:xfrm>
          <a:prstGeom prst="line">
            <a:avLst/>
          </a:prstGeom>
          <a:noFill/>
          <a:ln w="9525" cap="flat" cmpd="sng" algn="ctr">
            <a:solidFill>
              <a:srgbClr val="2A2F35"/>
            </a:solidFill>
            <a:prstDash val="solid"/>
            <a:headEnd type="none"/>
            <a:tailEnd type="none"/>
          </a:ln>
          <a:effectLst/>
        </p:spPr>
      </p:sp>
      <p:sp>
        <p:nvSpPr>
          <p:cNvPr id="12" name="Shape 10"/>
          <p:cNvSpPr>
            <a:extLst>
              <a:ext uri="smNativeData">
                <pr:smNativeData xmlns:pr="smNativeData" xmlns="smNativeData" val="SMDATA_15_zbzCahMAAAAlAAAAZgAAAA0AAAAAkAAAAEgAAACQAAAASAAAAAAAAAAAAAAAAAAAAAEAAABQAAAAAAAAAAAA8D8AAAAAAADwPwAAAAAAAOA/AAAAAAAA4D8AAAAAAADgPwAAAAAAAOA/AAAAAAAA4D8AAAAAAADgPwAAAAAAAOA/AAAAAAAA4D8CAAAAjAAAAAEAAAAAAAAA/9Bf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DjEg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9BfAP///wEAAAAAAAAAAAAAAAAAAAAAAAAAAAAAAAAAAAAAAAAAAAAAAAB/f38A5+bmA8zMzADAwP8Af39/AAAAAAAAAAAAAAAAAAAAAAAAAAAAIQAAABgAAAAUAAAA7QIAAKUdAAC2AwAAbh4AABAAAAAmAAAACAAAAP//////////"/>
              </a:ext>
            </a:extLst>
          </p:cNvSpPr>
          <p:nvPr/>
        </p:nvSpPr>
        <p:spPr>
          <a:xfrm>
            <a:off x="475615" y="4819015"/>
            <a:ext cx="127635" cy="127635"/>
          </a:xfrm>
          <a:prstGeom prst="ellipse">
            <a:avLst/>
          </a:prstGeom>
          <a:solidFill>
            <a:srgbClr val="FFD05F"/>
          </a:solidFill>
          <a:ln>
            <a:noFill/>
          </a:ln>
          <a:effectLst/>
        </p:spPr>
      </p:sp>
      <p:sp>
        <p:nvSpPr>
          <p:cNvPr id="13" name="Text 11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EGQ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EAUAAM0cAACwLgAAKh8AABAAAAAmAAAACAAAAP//////////"/>
              </a:ext>
            </a:extLst>
          </p:cNvSpPr>
          <p:nvPr/>
        </p:nvSpPr>
        <p:spPr>
          <a:xfrm>
            <a:off x="822960" y="4681855"/>
            <a:ext cx="6766560" cy="384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850" b="1" cap="none">
                <a:solidFill>
                  <a:srgbClr val="FFFFF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Focus pays the bill.</a:t>
            </a:r>
            <a:endParaRPr lang="en-us" sz="1850" cap="none"/>
          </a:p>
        </p:txBody>
      </p:sp>
      <p:sp>
        <p:nvSpPr>
          <p:cNvPr id="14" name="Text 12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EQY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EAUAAEYfAABALwAAwyIAABAAAAAmAAAACAAAAP//////////"/>
              </a:ext>
            </a:extLst>
          </p:cNvSpPr>
          <p:nvPr/>
        </p:nvSpPr>
        <p:spPr>
          <a:xfrm>
            <a:off x="822960" y="5083810"/>
            <a:ext cx="6858000" cy="5670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350" cap="none">
                <a:solidFill>
                  <a:srgbClr val="A6ABB2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Every unlock is a context switch your deep work didn't ask for.</a:t>
            </a:r>
            <a:endParaRPr lang="en-us" sz="1350" cap="none"/>
          </a:p>
        </p:txBody>
      </p:sp>
      <p:sp>
        <p:nvSpPr>
          <p:cNvPr id="15" name="Shape 13"/>
          <p:cNvSpPr>
            <a:extLst>
              <a:ext uri="smNativeData">
                <pr:smNativeData xmlns:pr="smNativeData" xmlns="smNativeData" val="SMDATA_15_zbzCahMAAAAlAAAAZQAAAA0AAAAAkAAAAEgAAACQAAAASAAAAAAAAAAAAAAAAAAAAAEAAABQAAAAuYjvxKwXwz8AAAAAAADwvwAAAAAAAOA/AAAAAAAA4D8AAAAAAADgPwAAAAAAAOA/AAAAAAAA4D8AAAAAAADgPwAAAAAAAOA/AAAAAAAA4D8CAAAAjAAAAAEAAAAAAAAAFhkdAP///wgAAAAAAAAAAAAAAAAAAAAAAAAAAAAAAAAAAAAAeAAAAAEAAABAAAAAAAAAAAAAAABaAAAAAAAAAAAAAAAAAAAAAAAAAAAAAAAAAAAAAAAAAAAAAAAAAAAAAAAAAAAAAAAAAAAAAAAAAAAAAAAAAAAAAAAAAAAAAAAAAAAAFAAAADwAAAABAAAAAAAAACovNQAZAAAAAQAAACMAAAAjAAAAIwAAAB4AAAAAAAAAZAAAAGQAAAAAAAAAZAAAAGQAAAAVAAAAYAAAAAAAAAAAAAAADwAAACADAAAAAAAAAAAAAAEAAACgMgAAVgcAAKr4//8BAAAAf39/AAEAAABkAAAAAAAAABQAAABAHwAAAAAAACYAAAAAAAAAwOD//wAAAAAmAAAAZAAAABYAAABMAAAAAQAAAAAAAAAGAAAAAAAAAAEAAAAAAAAAPAAAAAAAAAA8AAAAZAAAAGQAAAAAAAAAy8vLADwAAAAAAAAAPAAAAGQAAABkAAAAAAAAABcAAAAUAAAAAAAAAAAAAAD/fwAA/38AAAAAAAAJAAAABAAAAC9yZWweAAAAaAAAAAAAAAAAAAAAAAAAAAAAAAAAAAAAECcAABAnAAAAAAAAAAAAAAAAAAAAAAAAAAAAAAAAAAAAAAAAAAAAAPA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FhkdAP///wEAAAAAAAAAAAAAAAAAAAAAAAAAAAAAAAAAAAAAAAAAACovNQB/f38AAAAAAMvLywDAwP8Af39/AAAAAAAAAAAAAAAAAAAAAAAAAAAAIQAAABgAAAAUAAAAuDUAAB0JAABQRgAAhSUAABAAAAAmAAAACAAAAP//////////"/>
              </a:ext>
            </a:extLst>
          </p:cNvSpPr>
          <p:nvPr/>
        </p:nvSpPr>
        <p:spPr>
          <a:xfrm>
            <a:off x="8732520" y="1481455"/>
            <a:ext cx="2697480" cy="4617720"/>
          </a:xfrm>
          <a:prstGeom prst="roundRect">
            <a:avLst>
              <a:gd name="adj" fmla="val 7458"/>
            </a:avLst>
          </a:prstGeom>
          <a:solidFill>
            <a:srgbClr val="16191D"/>
          </a:solidFill>
          <a:ln w="15875" cap="flat" cmpd="sng" algn="ctr">
            <a:solidFill>
              <a:srgbClr val="2A2F35"/>
            </a:solidFill>
            <a:prstDash val="solid"/>
            <a:headEnd type="none"/>
            <a:tailEnd type="none"/>
          </a:ln>
          <a:effectLst>
            <a:outerShdw blurRad="152400" dist="38100" dir="5400000" algn="bl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>
            <a:extLst>
              <a:ext uri="smNativeData">
                <pr:smNativeData xmlns:pr="smNativeData" xmlns="smNativeData" val="SMDATA_15_zbzCahMAAAAlAAAAZQAAAA0AAAAAkAAAAEgAAACQAAAASAAAAAAAAAAAAAAAAAAAAAEAAABQAAAA/TBCeLRx7D8AAAAAAADwvwAAAAAAAOA/AAAAAAAA4D8AAAAAAADgPwAAAAAAAOA/AAAAAAAA4D8AAAAAAADgPwAAAAAAAOA/AAAAAAAA4D8CAAAAjAAAAAEAAAAAAAAAKi81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D48cD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Ki81AP///wEAAAAAAAAAAAAAAAAAAAAAAAAAAAAAAAAAAAAAAAAAAAAAAAB/f38A5+bmA8zMzADAwP8Af39/AAAAAAAAAAAAAAAAAAAAAAAAAAAAIQAAABgAAAAUAAAADDwAAAMKAAD8PwAAhQoAABAAAAAmAAAACAAAAP//////////"/>
              </a:ext>
            </a:extLst>
          </p:cNvSpPr>
          <p:nvPr/>
        </p:nvSpPr>
        <p:spPr>
          <a:xfrm>
            <a:off x="9761220" y="1627505"/>
            <a:ext cx="640080" cy="82550"/>
          </a:xfrm>
          <a:prstGeom prst="roundRect">
            <a:avLst>
              <a:gd name="adj" fmla="val 44444"/>
            </a:avLst>
          </a:prstGeom>
          <a:solidFill>
            <a:srgbClr val="2A2F35"/>
          </a:solidFill>
          <a:ln>
            <a:noFill/>
          </a:ln>
          <a:effectLst/>
        </p:spPr>
      </p:sp>
      <p:sp>
        <p:nvSpPr>
          <p:cNvPr id="17" name="Text 15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HRyIj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uDUAAAYLAABQRgAAtgwAABAAAAAmAAAACAAAAP//////////"/>
              </a:ext>
            </a:extLst>
          </p:cNvSpPr>
          <p:nvPr/>
        </p:nvSpPr>
        <p:spPr>
          <a:xfrm>
            <a:off x="8732520" y="1791970"/>
            <a:ext cx="26974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1100" b="1" cap="none">
                <a:solidFill>
                  <a:srgbClr val="A6ABB2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9:41</a:t>
            </a:r>
            <a:endParaRPr lang="en-us" sz="1100" cap="none"/>
          </a:p>
        </p:txBody>
      </p:sp>
      <p:sp>
        <p:nvSpPr>
          <p:cNvPr id="18" name="Shape 16"/>
          <p:cNvSpPr>
            <a:extLst>
              <a:ext uri="smNativeData">
                <pr:smNativeData xmlns:pr="smNativeData" xmlns="smNativeData" val="SMDATA_15_zbzCahMAAAAlAAAAZQAAAA0AAAAAkAAAAEgAAACQAAAASAAAAAAAAAAAAAAAAAAAAAEAAABQAAAAmpmZmZmZ2T8AAAAAAADwvwAAAAAAAOA/AAAAAAAA4D8AAAAAAADgPwAAAAAAAOA/AAAAAAAA4D8AAAAAAADgPwAAAAAAAOA/AAAAAAAA4D8CAAAAjAAAAAEAAAAAAAAAHiInAP///wgAAAAAAAAAAAAAAAAAAAAAAAAAAAAAAAAAAAAAeAAAAAEAAABAAAAAAAAAAAAAAABaAAAAAAAAAAAAAAAAAAAAAAAAAAAAAAAAAAAAAAAAAAAAAAAAAAAAAAAAAAAAAAAAAAAAAAAAAAAAAAAAAAAAAAAAAAAAAAAAAAAAFAAAADwAAAABAAAAAAAAACovNQ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GNlPS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HiInAP///wEAAAAAAAAAAAAAAAAAAAAAAAAAAAAAAAAAAAAAAAAAACovNQB/f38A5+bmA8zMzADAwP8Af39/AAAAAAAAAAAAAAAAAAAAAAAAAAAAIQAAABgAAAAUAAAA9TYAALoNAAATRQAAihAAABAAAAAmAAAACAAAAP//////////"/>
              </a:ext>
            </a:extLst>
          </p:cNvSpPr>
          <p:nvPr/>
        </p:nvSpPr>
        <p:spPr>
          <a:xfrm>
            <a:off x="8933815" y="2231390"/>
            <a:ext cx="2294890" cy="457200"/>
          </a:xfrm>
          <a:prstGeom prst="roundRect">
            <a:avLst>
              <a:gd name="adj" fmla="val 20000"/>
            </a:avLst>
          </a:prstGeom>
          <a:solidFill>
            <a:srgbClr val="1E2227"/>
          </a:solidFill>
          <a:ln w="9525" cap="flat" cmpd="sng" algn="ctr">
            <a:solidFill>
              <a:srgbClr val="2A2F35"/>
            </a:solidFill>
            <a:prstDash val="solid"/>
            <a:headEnd type="none"/>
            <a:tailEnd type="none"/>
          </a:ln>
          <a:effectLst/>
        </p:spPr>
      </p:sp>
      <p:sp>
        <p:nvSpPr>
          <p:cNvPr id="19" name="Text 17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C8+PH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ojcAANYNAABmRAAAbRAAABAAAAAmAAAACAAAAP//////////"/>
              </a:ext>
            </a:extLst>
          </p:cNvSpPr>
          <p:nvPr/>
        </p:nvSpPr>
        <p:spPr>
          <a:xfrm>
            <a:off x="9043670" y="2249170"/>
            <a:ext cx="2075180" cy="4210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050" cap="none">
                <a:solidFill>
                  <a:srgbClr val="A6ABB2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WhatsApp · 3 unread</a:t>
            </a:r>
            <a:endParaRPr lang="en-us" sz="1050" cap="none"/>
          </a:p>
        </p:txBody>
      </p:sp>
      <p:sp>
        <p:nvSpPr>
          <p:cNvPr id="20" name="Shape 18"/>
          <p:cNvSpPr>
            <a:extLst>
              <a:ext uri="smNativeData">
                <pr:smNativeData xmlns:pr="smNativeData" xmlns="smNativeData" val="SMDATA_15_zbzCahMAAAAlAAAAZQAAAA0AAAAAkAAAAEgAAACQAAAASAAAAAAAAAAAAAAAAAAAAAEAAABQAAAAmpmZmZmZ2T8AAAAAAADwvwAAAAAAAOA/AAAAAAAA4D8AAAAAAADgPwAAAAAAAOA/AAAAAAAA4D8AAAAAAADgPwAAAAAAAOA/AAAAAAAA4D8CAAAAjAAAAAEAAAAAAAAAHiInAP///wgAAAAAAAAAAAAAAAAAAAAAAAAAAAAAAAAAAAAAeAAAAAEAAABAAAAAAAAAAAAAAABaAAAAAAAAAAAAAAAAAAAAAAAAAAAAAAAAAAAAAAAAAAAAAAAAAAAAAAAAAAAAAAAAAAAAAAAAAAAAAAAAAAAAAAAAAAAAAAAAAAAAFAAAADwAAAABAAAAAAAAACovNQ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DIyIi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HiInAP///wEAAAAAAAAAAAAAAAAAAAAAAAAAAAAAAAAAAAAAAAAAACovNQB/f38A5+bmA8zMzADAwP8Af39/AAAAAAAAAAAAAAAAAAAAAAAAAAAAIQAAABgAAAAUAAAA9TYAADYRAAATRQAABhQAABAAAAAmAAAACAAAAP//////////"/>
              </a:ext>
            </a:extLst>
          </p:cNvSpPr>
          <p:nvPr/>
        </p:nvSpPr>
        <p:spPr>
          <a:xfrm>
            <a:off x="8933815" y="2797810"/>
            <a:ext cx="2294890" cy="457200"/>
          </a:xfrm>
          <a:prstGeom prst="roundRect">
            <a:avLst>
              <a:gd name="adj" fmla="val 20000"/>
            </a:avLst>
          </a:prstGeom>
          <a:solidFill>
            <a:srgbClr val="1E2227"/>
          </a:solidFill>
          <a:ln w="9525" cap="flat" cmpd="sng" algn="ctr">
            <a:solidFill>
              <a:srgbClr val="2A2F35"/>
            </a:solidFill>
            <a:prstDash val="solid"/>
            <a:headEnd type="none"/>
            <a:tailEnd type="none"/>
          </a:ln>
          <a:effectLst/>
        </p:spPr>
      </p:sp>
      <p:sp>
        <p:nvSpPr>
          <p:cNvPr id="21" name="Text 19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52UH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ojcAAFMRAABmRAAA6hMAABAAAAAmAAAACAAAAP//////////"/>
              </a:ext>
            </a:extLst>
          </p:cNvSpPr>
          <p:nvPr/>
        </p:nvSpPr>
        <p:spPr>
          <a:xfrm>
            <a:off x="9043670" y="2816225"/>
            <a:ext cx="2075180" cy="4210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050" cap="none">
                <a:solidFill>
                  <a:srgbClr val="A6ABB2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X · 12 new posts</a:t>
            </a:r>
            <a:endParaRPr lang="en-us" sz="1050" cap="none"/>
          </a:p>
        </p:txBody>
      </p:sp>
      <p:sp>
        <p:nvSpPr>
          <p:cNvPr id="22" name="Shape 20"/>
          <p:cNvSpPr>
            <a:extLst>
              <a:ext uri="smNativeData">
                <pr:smNativeData xmlns:pr="smNativeData" xmlns="smNativeData" val="SMDATA_15_zbzCahMAAAAlAAAAZQAAAA0AAAAAkAAAAEgAAACQAAAASAAAAAAAAAAAAAAAAAAAAAEAAABQAAAAmpmZmZmZ2T8AAAAAAADwvwAAAAAAAOA/AAAAAAAA4D8AAAAAAADgPwAAAAAAAOA/AAAAAAAA4D8AAAAAAADgPwAAAAAAAOA/AAAAAAAA4D8CAAAAjAAAAAEAAAAAAAAAHiInAP///wgAAAAAAAAAAAAAAAAAAAAAAAAAAAAAAAAAAAAAeAAAAAEAAABAAAAAAAAAAAAAAABaAAAAAAAAAAAAAAAAAAAAAAAAAAAAAAAAAAAAAAAAAAAAAAAAAAAAAAAAAAAAAAAAAAAAAAAAAAAAAAAAAAAAAAAAAAAAAAAAAAAAFAAAADwAAAABAAAAAAAAACovNQ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RleH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HiInAP///wEAAAAAAAAAAAAAAAAAAAAAAAAAAAAAAAAAAAAAAAAAACovNQB/f38A5+bmA8zMzADAwP8Af39/AAAAAAAAAAAAAAAAAAAAAAAAAAAAIQAAABgAAAAUAAAA9TYAALMUAAATRQAAgxcAABAAAAAmAAAACAAAAP//////////"/>
              </a:ext>
            </a:extLst>
          </p:cNvSpPr>
          <p:nvPr/>
        </p:nvSpPr>
        <p:spPr>
          <a:xfrm>
            <a:off x="8933815" y="3364865"/>
            <a:ext cx="2294890" cy="457200"/>
          </a:xfrm>
          <a:prstGeom prst="roundRect">
            <a:avLst>
              <a:gd name="adj" fmla="val 20000"/>
            </a:avLst>
          </a:prstGeom>
          <a:solidFill>
            <a:srgbClr val="1E2227"/>
          </a:solidFill>
          <a:ln w="9525" cap="flat" cmpd="sng" algn="ctr">
            <a:solidFill>
              <a:srgbClr val="2A2F35"/>
            </a:solidFill>
            <a:prstDash val="solid"/>
            <a:headEnd type="none"/>
            <a:tailEnd type="none"/>
          </a:ln>
          <a:effectLst/>
        </p:spPr>
      </p:sp>
      <p:sp>
        <p:nvSpPr>
          <p:cNvPr id="23" name="Text 21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dHR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ojcAANAUAABmRAAAZhcAABAAAAAmAAAACAAAAP//////////"/>
              </a:ext>
            </a:extLst>
          </p:cNvSpPr>
          <p:nvPr/>
        </p:nvSpPr>
        <p:spPr>
          <a:xfrm>
            <a:off x="9043670" y="3383280"/>
            <a:ext cx="2075180" cy="42037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050" cap="none">
                <a:solidFill>
                  <a:srgbClr val="A6ABB2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YouTube · autoplay</a:t>
            </a:r>
            <a:endParaRPr lang="en-us" sz="1050" cap="none"/>
          </a:p>
        </p:txBody>
      </p:sp>
      <p:sp>
        <p:nvSpPr>
          <p:cNvPr id="24" name="Shape 22"/>
          <p:cNvSpPr>
            <a:extLst>
              <a:ext uri="smNativeData">
                <pr:smNativeData xmlns:pr="smNativeData" xmlns="smNativeData" val="SMDATA_15_zbzCahMAAAAlAAAAZQAAAA0AAAAAkAAAAEgAAACQAAAASAAAAAAAAAAAAAAAAAAAAAEAAABQAAAAmpmZmZmZ2T8AAAAAAADwvwAAAAAAAOA/AAAAAAAA4D8AAAAAAADgPwAAAAAAAOA/AAAAAAAA4D8AAAAAAADgPwAAAAAAAOA/AAAAAAAA4D8CAAAAjAAAAAEAAAAAAAAAHiInAP///wgAAAAAAAAAAAAAAAAAAAAAAAAAAAAAAAAAAAAAeAAAAAEAAABAAAAAAAAAAAAAAABaAAAAAAAAAAAAAAAAAAAAAAAAAAAAAAAAAAAAAAAAAAAAAAAAAAAAAAAAAAAAAAAAAAAAAAAAAAAAAAAAAAAAAAAAAAAAAAAAAAAAFAAAADwAAAABAAAAAAAAACovNQ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IeHh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HiInAP///wEAAAAAAAAAAAAAAAAAAAAAAAAAAAAAAAAAAAAAAAAAACovNQB/f38A5+bmA8zMzADAwP8Af39/AAAAAAAAAAAAAAAAAAAAAAAAAAAAIQAAABgAAAAUAAAA9TYAADAYAAATRQAAABsAABAAAAAmAAAACAAAAP//////////"/>
              </a:ext>
            </a:extLst>
          </p:cNvSpPr>
          <p:nvPr/>
        </p:nvSpPr>
        <p:spPr>
          <a:xfrm>
            <a:off x="8933815" y="3931920"/>
            <a:ext cx="2294890" cy="457200"/>
          </a:xfrm>
          <a:prstGeom prst="roundRect">
            <a:avLst>
              <a:gd name="adj" fmla="val 20000"/>
            </a:avLst>
          </a:prstGeom>
          <a:solidFill>
            <a:srgbClr val="1E2227"/>
          </a:solidFill>
          <a:ln w="9525" cap="flat" cmpd="sng" algn="ctr">
            <a:solidFill>
              <a:srgbClr val="2A2F35"/>
            </a:solidFill>
            <a:prstDash val="solid"/>
            <a:headEnd type="none"/>
            <a:tailEnd type="none"/>
          </a:ln>
          <a:effectLst/>
        </p:spPr>
      </p:sp>
      <p:sp>
        <p:nvSpPr>
          <p:cNvPr id="25" name="Text 23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dHR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ojcAAE0YAABmRAAA4xoAABAAAAAmAAAACAAAAP//////////"/>
              </a:ext>
            </a:extLst>
          </p:cNvSpPr>
          <p:nvPr/>
        </p:nvSpPr>
        <p:spPr>
          <a:xfrm>
            <a:off x="9043670" y="3950335"/>
            <a:ext cx="2075180" cy="42037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050" cap="none">
                <a:solidFill>
                  <a:srgbClr val="A6ABB2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Instagram · stories</a:t>
            </a:r>
            <a:endParaRPr lang="en-us" sz="1050" cap="none"/>
          </a:p>
        </p:txBody>
      </p:sp>
      <p:sp>
        <p:nvSpPr>
          <p:cNvPr id="26" name="Shape 24"/>
          <p:cNvSpPr>
            <a:extLst>
              <a:ext uri="smNativeData">
                <pr:smNativeData xmlns:pr="smNativeData" xmlns="smNativeData" val="SMDATA_15_zbzCahMAAAAlAAAAZQAAAA0AAAAAkAAAAEgAAACQAAAASAAAAAAAAAAAAAAAAAAAAAEAAABQAAAAmpmZmZmZ2T8AAAAAAADwvwAAAAAAAOA/AAAAAAAA4D8AAAAAAADgPwAAAAAAAOA/AAAAAAAA4D8AAAAAAADgPwAAAAAAAOA/AAAAAAAA4D8CAAAAjAAAAAEAAAAAAAAA/9Bf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9BfAP///wEAAAAAAAAAAAAAAAAAAAAAAAAAAAAAAAAAAAAAAAAAAAAAAAB/f38A5+bmA8zMzADAwP8Af39/AAAAAAAAAAAAAAAAAAAAAAAAAAAAIQAAABgAAAAUAAAA9TYAAHYcAAATRQAARh8AABAAAAAmAAAACAAAAP//////////"/>
              </a:ext>
            </a:extLst>
          </p:cNvSpPr>
          <p:nvPr/>
        </p:nvSpPr>
        <p:spPr>
          <a:xfrm>
            <a:off x="8933815" y="4626610"/>
            <a:ext cx="2294890" cy="457200"/>
          </a:xfrm>
          <a:prstGeom prst="roundRect">
            <a:avLst>
              <a:gd name="adj" fmla="val 20000"/>
            </a:avLst>
          </a:prstGeom>
          <a:solidFill>
            <a:srgbClr val="FFD05F"/>
          </a:solidFill>
          <a:ln>
            <a:noFill/>
          </a:ln>
          <a:effectLst/>
        </p:spPr>
      </p:sp>
      <p:sp>
        <p:nvSpPr>
          <p:cNvPr id="27" name="Text 25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1dXf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ojcAAJMcAABmRAAAKh8AABAAAAAmAAAACAAAAP//////////"/>
              </a:ext>
            </a:extLst>
          </p:cNvSpPr>
          <p:nvPr/>
        </p:nvSpPr>
        <p:spPr>
          <a:xfrm>
            <a:off x="9043670" y="4645025"/>
            <a:ext cx="2075180" cy="4210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050" b="1" cap="none">
                <a:solidFill>
                  <a:srgbClr val="141414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Mawaqit — Fajr in 5 min</a:t>
            </a:r>
            <a:endParaRPr lang="en-us" sz="1050" cap="none"/>
          </a:p>
        </p:txBody>
      </p:sp>
      <p:sp>
        <p:nvSpPr>
          <p:cNvPr id="28" name="Text 26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IeHh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CDQAAGsmAAAASAAAGygAABAAAAAmAAAACAAAAP//////////"/>
              </a:ext>
            </a:extLst>
          </p:cNvSpPr>
          <p:nvPr/>
        </p:nvSpPr>
        <p:spPr>
          <a:xfrm>
            <a:off x="8458200" y="6245225"/>
            <a:ext cx="324612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1100" i="1" cap="none">
                <a:solidFill>
                  <a:srgbClr val="6B7076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The one alert you need, drowned by the rest.</a:t>
            </a:r>
            <a:endParaRPr lang="en-us" sz="11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3"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O0CAADQLwAAugQAABAAAAAmAAAACAAAAP//////////"/>
              </a:ext>
            </a:extLst>
          </p:cNvSpPr>
          <p:nvPr/>
        </p:nvSpPr>
        <p:spPr>
          <a:xfrm>
            <a:off x="457200" y="475615"/>
            <a:ext cx="7315200" cy="2927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250" b="1" cap="none" spc="91">
                <a:solidFill>
                  <a:srgbClr val="FFD05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02  ·  THE FIX</a:t>
            </a:r>
            <a:endParaRPr lang="en-us" sz="1250" cap="none"/>
          </a:p>
        </p:txBody>
      </p:sp>
      <p:sp>
        <p:nvSpPr>
          <p:cNvPr id="3" name="Text 1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HIAY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LgIAAAASAAAEA4AABAAAAAmAAAACAAAAP//////////"/>
              </a:ext>
            </a:extLst>
          </p:cNvSpPr>
          <p:nvPr/>
        </p:nvSpPr>
        <p:spPr>
          <a:xfrm>
            <a:off x="457200" y="1417320"/>
            <a:ext cx="11247120" cy="8686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4500" b="1" cap="none">
                <a:solidFill>
                  <a:srgbClr val="FFFFF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Prayer times belong</a:t>
            </a:r>
            <a:endParaRPr lang="en-us" sz="4500" cap="none"/>
          </a:p>
        </p:txBody>
      </p:sp>
      <p:sp>
        <p:nvSpPr>
          <p:cNvPr id="4" name="Text 2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BAOAAAASAAAaBMAABAAAAAmAAAACAAAAP//////////"/>
              </a:ext>
            </a:extLst>
          </p:cNvSpPr>
          <p:nvPr/>
        </p:nvSpPr>
        <p:spPr>
          <a:xfrm>
            <a:off x="457200" y="2286000"/>
            <a:ext cx="11247120" cy="8686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4500" b="1" cap="none">
                <a:solidFill>
                  <a:srgbClr val="FFD05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where the work happens.</a:t>
            </a:r>
            <a:endParaRPr lang="en-us" sz="4500" cap="none"/>
          </a:p>
        </p:txBody>
      </p:sp>
      <p:sp>
        <p:nvSpPr>
          <p:cNvPr id="5" name="Text 3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O0UAABwNQAATRgAABAAAAAmAAAACAAAAP//////////"/>
              </a:ext>
            </a:extLst>
          </p:cNvSpPr>
          <p:nvPr/>
        </p:nvSpPr>
        <p:spPr>
          <a:xfrm>
            <a:off x="457200" y="3401695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cap="none">
                <a:solidFill>
                  <a:srgbClr val="A6ABB2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mawaqit-desktop sits in your system tray and calls the adhan at prayer time —</a:t>
            </a:r>
            <a:endParaRPr lang="en-us" sz="1550" cap="none"/>
          </a:p>
          <a:p>
            <a:pPr marL="0" indent="0">
              <a:lnSpc>
                <a:spcPct val="125000"/>
              </a:lnSpc>
              <a:buNone/>
            </a:pPr>
            <a:r>
              <a:rPr lang="en-us" sz="1550" cap="none">
                <a:solidFill>
                  <a:srgbClr val="A6ABB2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no dock, no tab, no phone screen ever turned on.</a:t>
            </a:r>
            <a:endParaRPr lang="en-us" sz="1550" cap="none"/>
          </a:p>
        </p:txBody>
      </p:sp>
      <p:sp>
        <p:nvSpPr>
          <p:cNvPr id="6" name="Text 4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ayYAADMZAAArSAAAVhsAABAAAAAmAAAACAAAAP//////////"/>
              </a:ext>
            </a:extLst>
          </p:cNvSpPr>
          <p:nvPr/>
        </p:nvSpPr>
        <p:spPr>
          <a:xfrm>
            <a:off x="6245225" y="4096385"/>
            <a:ext cx="5486400" cy="34734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r">
              <a:buNone/>
            </a:pPr>
            <a:r>
              <a:rPr lang="en-us" sz="1250" cap="none">
                <a:solidFill>
                  <a:srgbClr val="FFFFF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Live tray countdown — orange under 10 min, red under 5.</a:t>
            </a:r>
            <a:endParaRPr lang="en-us" sz="1250" cap="none"/>
          </a:p>
        </p:txBody>
      </p:sp>
      <p:sp>
        <p:nvSpPr>
          <p:cNvPr id="7" name="Shape 5"/>
          <p:cNvSpPr>
            <a:extLst>
              <a:ext uri="smNativeData">
                <pr:smNativeData xmlns:pr="smNativeData" xmlns="smNativeData" val="SMDATA_15_zbzCahMAAAAlAAAACg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P/QXwAZ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P/QXwB/f38A5+bmA8zMzADAwP8Af39/AAAAAAAAAAAAAAAAAAAAAAAAAAAAIQAAABgAAAAUAAAAvkAAANgbAAC+QAAACyMAABAAAAAmAAAACAAAAP//////////"/>
              </a:ext>
            </a:extLst>
          </p:cNvSpPr>
          <p:nvPr/>
        </p:nvSpPr>
        <p:spPr>
          <a:xfrm>
            <a:off x="10524490" y="4526280"/>
            <a:ext cx="0" cy="1170305"/>
          </a:xfrm>
          <a:prstGeom prst="line">
            <a:avLst/>
          </a:prstGeom>
          <a:noFill/>
          <a:ln w="15875" cap="flat" cmpd="sng" algn="ctr">
            <a:solidFill>
              <a:srgbClr val="FFD05F"/>
            </a:solidFill>
            <a:prstDash val="solid"/>
            <a:headEnd type="none"/>
            <a:tailEnd type="none"/>
          </a:ln>
          <a:effectLst/>
        </p:spPr>
      </p:sp>
      <p:sp>
        <p:nvSpPr>
          <p:cNvPr id="8" name="Shape 6"/>
          <p:cNvSpPr>
            <a:extLst>
              <a:ext uri="smNativeData">
                <pr:smNativeData xmlns:pr="smNativeData" xmlns="smNativeData" val="SMDATA_15_zbzCahMAAAAlAAAAZAAAAA0AAAAAkAAAAEgAAACQAAAASAAAAAAAAAAAAAAAAAAAAAEAAABQAAAAAAAAAAAA4D8AAAAAAADgPwAAAAAAAOA/AAAAAAAA4D8AAAAAAADgPwAAAAAAAOA/AAAAAAAA4D8AAAAAAADgPwAAAAAAAOA/AAAAAAAA4D8CAAAAjAAAAAEAAAAAAAAAEBMXAP///wgAAAAAAAAAAAAAAAAAAAAAAAAAAAAAAAAAAAAAeAAAAAEAAABAAAAAAAAAAAAAAABaAAAAAAAAAAAAAAAAAAAAAAAAAAAAAAAAAAAAAAAAAAAAAAAAAAAAAAAAAAAAAAAAAAAAAAAAAAAAAAAAAAAAAAAAAAAAAAAAAAAAFAAAADwAAAABAAAAAAAAACovNQ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EBMXAP///wEAAAAAAAAAAAAAAAAAAAAAAAAAAAAAAAAAAAAAAAAAACovNQB/f38A5+bmA8zMzADAwP8Af39/AAAAAAAAAAAAAAAAAAAAAAAAAAAAIQAAABgAAAAUAAAAAAAAAJ0fAAD7SgAAMCoAABAAAAAmAAAACAAAAP//////////"/>
              </a:ext>
            </a:extLst>
          </p:cNvSpPr>
          <p:nvPr/>
        </p:nvSpPr>
        <p:spPr>
          <a:xfrm>
            <a:off x="0" y="5139055"/>
            <a:ext cx="12188825" cy="1718945"/>
          </a:xfrm>
          <a:prstGeom prst="rect">
            <a:avLst/>
          </a:prstGeom>
          <a:solidFill>
            <a:srgbClr val="101317"/>
          </a:solidFill>
          <a:ln w="9525" cap="flat" cmpd="sng" algn="ctr">
            <a:solidFill>
              <a:srgbClr val="2A2F35"/>
            </a:solidFill>
            <a:prstDash val="solid"/>
            <a:headEnd type="none"/>
            <a:tailEnd type="none"/>
          </a:ln>
          <a:effectLst/>
        </p:spPr>
      </p:sp>
      <p:sp>
        <p:nvSpPr>
          <p:cNvPr id="9" name="Shape 7"/>
          <p:cNvSpPr>
            <a:extLst>
              <a:ext uri="smNativeData">
                <pr:smNativeData xmlns:pr="smNativeData" xmlns="smNativeData" val="SMDATA_15_zbzCahMAAAAlAAAAZQAAAA0AAAAAkAAAAEgAAACQAAAASAAAAAAAAAAAAAAAAAAAAAEAAABQAAAA/TBCeLRx3D8AAAAAAADwvwAAAAAAAOA/AAAAAAAA4D8AAAAAAADgPwAAAAAAAOA/AAAAAAAA4D8AAAAAAADgPwAAAAAAAOA/AAAAAAAA4D8CAAAAjAAAAAEAAAAAAAAAHiIn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HiInAP///wEAAAAAAAAAAAAAAAAAAAAAAAAAAAAAAAAAAAAAAAAAAAAAAAB/f38A5+bmA8zMzADAwP8Af39/AAAAAAAAAAAAAAAAAAAAAAAAAAAAIQAAABgAAAAUAAAAGAMAAFMjAAAeBQAAWiUAABAAAAAmAAAACAAAAP//////////"/>
              </a:ext>
            </a:extLst>
          </p:cNvSpPr>
          <p:nvPr/>
        </p:nvSpPr>
        <p:spPr>
          <a:xfrm>
            <a:off x="502920" y="5742305"/>
            <a:ext cx="328930" cy="329565"/>
          </a:xfrm>
          <a:prstGeom prst="roundRect">
            <a:avLst>
              <a:gd name="adj" fmla="val 22222"/>
            </a:avLst>
          </a:prstGeom>
          <a:solidFill>
            <a:srgbClr val="1E2227"/>
          </a:solidFill>
          <a:ln>
            <a:noFill/>
          </a:ln>
          <a:effectLst/>
        </p:spPr>
      </p:sp>
      <p:sp>
        <p:nvSpPr>
          <p:cNvPr id="10" name="Shape 8"/>
          <p:cNvSpPr>
            <a:extLst>
              <a:ext uri="smNativeData">
                <pr:smNativeData xmlns:pr="smNativeData" xmlns="smNativeData" val="SMDATA_15_zbzCahMAAAAlAAAAZQAAAA0AAAAAkAAAAEgAAACQAAAASAAAAAAAAAAAAAAAAAAAAAEAAABQAAAA/TBCeLRx3D8AAAAAAADwvwAAAAAAAOA/AAAAAAAA4D8AAAAAAADgPwAAAAAAAOA/AAAAAAAA4D8AAAAAAADgPwAAAAAAAOA/AAAAAAAA4D8CAAAAjAAAAAEAAAAAAAAAHiIn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HiInAP///wEAAAAAAAAAAAAAAAAAAAAAAAAAAAAAAAAAAAAAAAAAAAAAAAB/f38A5+bmA8zMzADAwP8Af39/AAAAAAAAAAAAAAAAAAAAAAAAAAAAIQAAABgAAAAUAAAABQYAAFMjAAALCAAAWiUAABAAAAAmAAAACAAAAP//////////"/>
              </a:ext>
            </a:extLst>
          </p:cNvSpPr>
          <p:nvPr/>
        </p:nvSpPr>
        <p:spPr>
          <a:xfrm>
            <a:off x="978535" y="5742305"/>
            <a:ext cx="328930" cy="329565"/>
          </a:xfrm>
          <a:prstGeom prst="roundRect">
            <a:avLst>
              <a:gd name="adj" fmla="val 22222"/>
            </a:avLst>
          </a:prstGeom>
          <a:solidFill>
            <a:srgbClr val="1E2227"/>
          </a:solidFill>
          <a:ln>
            <a:noFill/>
          </a:ln>
          <a:effectLst/>
        </p:spPr>
      </p:sp>
      <p:sp>
        <p:nvSpPr>
          <p:cNvPr id="11" name="Shape 9"/>
          <p:cNvSpPr>
            <a:extLst>
              <a:ext uri="smNativeData">
                <pr:smNativeData xmlns:pr="smNativeData" xmlns="smNativeData" val="SMDATA_15_zbzCahMAAAAlAAAAZQAAAA0AAAAAkAAAAEgAAACQAAAASAAAAAAAAAAAAAAAAAAAAAEAAABQAAAA/TBCeLRx3D8AAAAAAADwvwAAAAAAAOA/AAAAAAAA4D8AAAAAAADgPwAAAAAAAOA/AAAAAAAA4D8AAAAAAADgPwAAAAAAAOA/AAAAAAAA4D8CAAAAjAAAAAEAAAAAAAAAHiIn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HiInAP///wEAAAAAAAAAAAAAAAAAAAAAAAAAAAAAAAAAAAAAAAAAAAAAAAB/f38A5+bmA8zMzADAwP8Af39/AAAAAAAAAAAAAAAAAAAAAAAAAAAAIQAAABgAAAAUAAAA8ggAAFMjAAD4CgAAWiUAABAAAAAmAAAACAAAAP//////////"/>
              </a:ext>
            </a:extLst>
          </p:cNvSpPr>
          <p:nvPr/>
        </p:nvSpPr>
        <p:spPr>
          <a:xfrm>
            <a:off x="1454150" y="5742305"/>
            <a:ext cx="328930" cy="329565"/>
          </a:xfrm>
          <a:prstGeom prst="roundRect">
            <a:avLst>
              <a:gd name="adj" fmla="val 22222"/>
            </a:avLst>
          </a:prstGeom>
          <a:solidFill>
            <a:srgbClr val="1E2227"/>
          </a:solidFill>
          <a:ln>
            <a:noFill/>
          </a:ln>
          <a:effectLst/>
        </p:spPr>
      </p:sp>
      <p:sp>
        <p:nvSpPr>
          <p:cNvPr id="12" name="Shape 10"/>
          <p:cNvSpPr>
            <a:extLst>
              <a:ext uri="smNativeData">
                <pr:smNativeData xmlns:pr="smNativeData" xmlns="smNativeData" val="SMDATA_15_zbzCahMAAAAlAAAAZQAAAA0AAAAAkAAAAEgAAACQAAAASAAAAAAAAAAAAAAAAAAAAAEAAABQAAAA/TBCeLRx3D8AAAAAAADwvwAAAAAAAOA/AAAAAAAA4D8AAAAAAADgPwAAAAAAAOA/AAAAAAAA4D8AAAAAAADgPwAAAAAAAOA/AAAAAAAA4D8CAAAAjAAAAAEAAAAAAAAAHiIn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HiInAP///wEAAAAAAAAAAAAAAAAAAAAAAAAAAAAAAAAAAAAAAAAAAAAAAAB/f38A5+bmA8zMzADAwP8Af39/AAAAAAAAAAAAAAAAAAAAAAAAAAAAIQAAABgAAAAUAAAA3gsAAFMjAADlDQAAWiUAABAAAAAmAAAACAAAAP//////////"/>
              </a:ext>
            </a:extLst>
          </p:cNvSpPr>
          <p:nvPr/>
        </p:nvSpPr>
        <p:spPr>
          <a:xfrm>
            <a:off x="1929130" y="5742305"/>
            <a:ext cx="329565" cy="329565"/>
          </a:xfrm>
          <a:prstGeom prst="roundRect">
            <a:avLst>
              <a:gd name="adj" fmla="val 22222"/>
            </a:avLst>
          </a:prstGeom>
          <a:solidFill>
            <a:srgbClr val="1E2227"/>
          </a:solidFill>
          <a:ln>
            <a:noFill/>
          </a:ln>
          <a:effectLst/>
        </p:spPr>
      </p:sp>
      <p:sp>
        <p:nvSpPr>
          <p:cNvPr id="13" name="Shape 11"/>
          <p:cNvSpPr>
            <a:extLst>
              <a:ext uri="smNativeData">
                <pr:smNativeData xmlns:pr="smNativeData" xmlns="smNativeData" val="SMDATA_15_zbzCahMAAAAlAAAAZQAAAA0AAAAAkAAAAEgAAACQAAAASAAAAAAAAAAAAAAAAAAAAAEAAABQAAAA/TBCeLRx3D8AAAAAAADwvwAAAAAAAOA/AAAAAAAA4D8AAAAAAADgPwAAAAAAAOA/AAAAAAAA4D8AAAAAAADgPwAAAAAAAOA/AAAAAAAA4D8CAAAAjAAAAAEAAAAAAAAAHiIn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HiInAP///wEAAAAAAAAAAAAAAAAAAAAAAAAAAAAAAAAAAAAAAAAAAAAAAAB/f38A5+bmA8zMzADAwP8Af39/AAAAAAAAAAAAAAAAAAAAAAAAAAAAIQAAABgAAAAUAAAAyw4AAFMjAADSEAAAWiUAABAAAAAmAAAACAAAAP//////////"/>
              </a:ext>
            </a:extLst>
          </p:cNvSpPr>
          <p:nvPr/>
        </p:nvSpPr>
        <p:spPr>
          <a:xfrm>
            <a:off x="2404745" y="5742305"/>
            <a:ext cx="329565" cy="329565"/>
          </a:xfrm>
          <a:prstGeom prst="roundRect">
            <a:avLst>
              <a:gd name="adj" fmla="val 22222"/>
            </a:avLst>
          </a:prstGeom>
          <a:solidFill>
            <a:srgbClr val="1E2227"/>
          </a:solidFill>
          <a:ln>
            <a:noFill/>
          </a:ln>
          <a:effectLst/>
        </p:spPr>
      </p:sp>
      <p:sp>
        <p:nvSpPr>
          <p:cNvPr id="14" name="Shape 12"/>
          <p:cNvSpPr>
            <a:extLst>
              <a:ext uri="smNativeData">
                <pr:smNativeData xmlns:pr="smNativeData" xmlns="smNativeData" val="SMDATA_15_zbzCahMAAAAlAAAAZgAAAA0AAAAAkAAAAEgAAACQAAAASAAAAAAAAAAAAAAAAAAAAAEAAABQAAAAAAAAAAAA8D8AAAAAAADwPwAAAAAAAOA/AAAAAAAA4D8AAAAAAADgPwAAAAAAAOA/AAAAAAAA4D8AAAAAAADgPwAAAAAAAOA/AAAAAAAA4D8CAAAAjAAAAAEAAAAAAAAA/9Bf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9BfAP///wEAAAAAAAAAAAAAAAAAAAAAAAAAAAAAAAAAAAAAAAAAAAAAAAB/f38A5+bmA8zMzADAwP8Af39/AAAAAAAAAAAAAAAAAAAAAAAAAAAAIQAAABgAAAAUAAAA0zkAABojAABNPAAAkyUAABAAAAAmAAAACAAAAP//////////"/>
              </a:ext>
            </a:extLst>
          </p:cNvSpPr>
          <p:nvPr/>
        </p:nvSpPr>
        <p:spPr>
          <a:xfrm>
            <a:off x="9399905" y="5706110"/>
            <a:ext cx="402590" cy="401955"/>
          </a:xfrm>
          <a:prstGeom prst="ellipse">
            <a:avLst/>
          </a:prstGeom>
          <a:solidFill>
            <a:srgbClr val="FFD05F"/>
          </a:solidFill>
          <a:ln>
            <a:noFill/>
          </a:ln>
          <a:effectLst/>
        </p:spPr>
      </p:sp>
      <p:sp>
        <p:nvSpPr>
          <p:cNvPr id="15" name="Shape 13"/>
          <p:cNvSpPr>
            <a:extLst>
              <a:ext uri="smNativeData">
                <pr:smNativeData xmlns:pr="smNativeData" xmlns="smNativeData" val="SMDATA_15_zbzCahMAAAAlAAAAZgAAAA0AAAAAkAAAAEgAAACQAAAASAAAAAAAAAAAAAAAAAAAAAEAAABQAAAAAAAAAAAA8D8AAAAAAADwPwAAAAAAAOA/AAAAAAAA4D8AAAAAAADgPwAAAAAAAOA/AAAAAAAA4D8AAAAAAADgPwAAAAAAAOA/AAAAAAAA4D8CAAAAjAAAAAEAAAAAAAAAEBMX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EBMXAP///wEAAAAAAAAAAAAAAAAAAAAAAAAAAAAAAAAAAAAAAAAAAAAAAAB/f38A5+bmA8zMzADAwP8Af39/AAAAAAAAAAAAAAAAAAAAAAAAAAAAIQAAABgAAAAUAAAAhToAANoiAACmPAAA+yQAABAAAAAmAAAACAAAAP//////////"/>
              </a:ext>
            </a:extLst>
          </p:cNvSpPr>
          <p:nvPr/>
        </p:nvSpPr>
        <p:spPr>
          <a:xfrm>
            <a:off x="9512935" y="5665470"/>
            <a:ext cx="346075" cy="346075"/>
          </a:xfrm>
          <a:prstGeom prst="ellipse">
            <a:avLst/>
          </a:prstGeom>
          <a:solidFill>
            <a:srgbClr val="101317"/>
          </a:solidFill>
          <a:ln>
            <a:noFill/>
          </a:ln>
          <a:effectLst/>
        </p:spPr>
      </p:sp>
      <p:sp>
        <p:nvSpPr>
          <p:cNvPr id="16" name="Shape 14"/>
          <p:cNvSpPr>
            <a:extLst>
              <a:ext uri="smNativeData">
                <pr:smNativeData xmlns:pr="smNativeData" xmlns="smNativeData" val="SMDATA_15_zbzCahMAAAAlAAAAZQAAAA0AAAAAkAAAAEgAAACQAAAASAAAAAAAAAAAAAAAAAAAAAEAAABQAAAAAAAAAAAA8D8AAAAAAADwvwAAAAAAAOA/AAAAAAAA4D8AAAAAAADgPwAAAAAAAOA/AAAAAAAA4D8AAAAAAADgPwAAAAAAAOA/AAAAAAAA4D8CAAAAjAAAAAEAAAAAAAAAKyQQAP///wgAAAAAAAAAAAAAAAAAAAAAAAAAAAAAAAAAAAAAeAAAAAEAAABAAAAAAAAAAAAAAABaAAAAAAAAAAAAAAAAAAAAAAAAAAAAAAAAAAAAAAAAAAAAAAAAAAAAAAAAAAAAAAAAAAAAAAAAAAAAAAAAAAAAAAAAAAAAAAAAAAAAFAAAADwAAAABAAAAAAAAAP/QX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KyQQAP///wEAAAAAAAAAAAAAAAAAAAAAAAAAAAAAAAAAAAAAAAAAAP/QXwB/f38A5+bmA8zMzADAwP8Af39/AAAAAAAAAAAAAAAAAAAAAAAAAAAAIQAAABgAAAAUAAAAbT0AAFMjAAAQRAAAWiUAABAAAAAmAAAACAAAAP//////////"/>
              </a:ext>
            </a:extLst>
          </p:cNvSpPr>
          <p:nvPr/>
        </p:nvSpPr>
        <p:spPr>
          <a:xfrm>
            <a:off x="9985375" y="5742305"/>
            <a:ext cx="1078865" cy="329565"/>
          </a:xfrm>
          <a:prstGeom prst="roundRect">
            <a:avLst>
              <a:gd name="adj" fmla="val 50000"/>
            </a:avLst>
          </a:prstGeom>
          <a:solidFill>
            <a:srgbClr val="2B2410"/>
          </a:solidFill>
          <a:ln w="12700" cap="flat" cmpd="sng" algn="ctr">
            <a:solidFill>
              <a:srgbClr val="FFD05F"/>
            </a:solidFill>
            <a:prstDash val="solid"/>
            <a:headEnd type="none"/>
            <a:tailEnd type="none"/>
          </a:ln>
          <a:effectLst/>
        </p:spPr>
      </p:sp>
      <p:sp>
        <p:nvSpPr>
          <p:cNvPr id="17" name="Text 15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bT0AAFMjAAAQRAAAWiUAABAAAAAmAAAACAAAAP//////////"/>
              </a:ext>
            </a:extLst>
          </p:cNvSpPr>
          <p:nvPr/>
        </p:nvSpPr>
        <p:spPr>
          <a:xfrm>
            <a:off x="9985375" y="5742305"/>
            <a:ext cx="1078865" cy="32956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1200" b="1" cap="none">
                <a:solidFill>
                  <a:srgbClr val="FFD05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05:12</a:t>
            </a:r>
            <a:endParaRPr lang="en-us" sz="1200" cap="none"/>
          </a:p>
        </p:txBody>
      </p:sp>
      <p:sp>
        <p:nvSpPr>
          <p:cNvPr id="18" name="Text 16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E0UAAFMjAABLSQAAWiUAABAAAAAmAAAACAAAAP//////////"/>
              </a:ext>
            </a:extLst>
          </p:cNvSpPr>
          <p:nvPr/>
        </p:nvSpPr>
        <p:spPr>
          <a:xfrm>
            <a:off x="11228705" y="5742305"/>
            <a:ext cx="685800" cy="32956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200" cap="none">
                <a:solidFill>
                  <a:srgbClr val="FFFFF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23:25</a:t>
            </a:r>
            <a:endParaRPr lang="en-us" sz="1200" cap="none"/>
          </a:p>
        </p:txBody>
      </p:sp>
      <p:sp>
        <p:nvSpPr>
          <p:cNvPr id="19" name="Text 17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zkAAJYmAAAQRAAAKigAABAAAAAmAAAACAAAAP//////////"/>
              </a:ext>
            </a:extLst>
          </p:cNvSpPr>
          <p:nvPr/>
        </p:nvSpPr>
        <p:spPr>
          <a:xfrm>
            <a:off x="9399905" y="6272530"/>
            <a:ext cx="1664335" cy="2565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050" cap="none">
                <a:solidFill>
                  <a:srgbClr val="6B7076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your tray</a:t>
            </a:r>
            <a:endParaRPr lang="en-us" sz="105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4"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O0CAADQLwAAugQAABAAAAAmAAAACAAAAP//////////"/>
              </a:ext>
            </a:extLst>
          </p:cNvSpPr>
          <p:nvPr/>
        </p:nvSpPr>
        <p:spPr>
          <a:xfrm>
            <a:off x="457200" y="475615"/>
            <a:ext cx="7315200" cy="2927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250" b="1" cap="none" spc="91">
                <a:solidFill>
                  <a:srgbClr val="FFD05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03  ·  HOW IT WORKS</a:t>
            </a:r>
            <a:endParaRPr lang="en-us" sz="1250" cap="none"/>
          </a:p>
        </p:txBody>
      </p:sp>
      <p:sp>
        <p:nvSpPr>
          <p:cNvPr id="3" name="Text 1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C0FAAArSAAA9QkAABAAAAAmAAAACAAAAP//////////"/>
              </a:ext>
            </a:extLst>
          </p:cNvSpPr>
          <p:nvPr/>
        </p:nvSpPr>
        <p:spPr>
          <a:xfrm>
            <a:off x="457200" y="841375"/>
            <a:ext cx="11274425" cy="7772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3100" b="1" cap="none">
                <a:solidFill>
                  <a:srgbClr val="FFFFF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From mosque search to adhan — in three steps.</a:t>
            </a:r>
            <a:endParaRPr lang="en-us" sz="3100" cap="none"/>
          </a:p>
        </p:txBody>
      </p:sp>
      <p:sp>
        <p:nvSpPr>
          <p:cNvPr id="4" name="Shape 2"/>
          <p:cNvSpPr>
            <a:extLst>
              <a:ext uri="smNativeData">
                <pr:smNativeData xmlns:pr="smNativeData" xmlns="smNativeData" val="SMDATA_15_zbzCahMAAAAlAAAAZgAAAA0AAAAAkAAAAEgAAACQAAAASAAAAAAAAAAAAAAAAAAAAAEAAABQAAAAAAAAAAAA8D8AAAAAAADwPwAAAAAAAOA/AAAAAAAA4D8AAAAAAADgPwAAAAAAAOA/AAAAAAAA4D8AAAAAAADgPwAAAAAAAOA/AAAAAAAA4D8CAAAAjAAAAAEAAAAAAAAAKyQQAP///wgAAAAAAAAAAAAAAAAAAAAAAAAAAAAAAAAAAAAAeAAAAAEAAABAAAAAAAAAAAAAAABaAAAAAAAAAAAAAAAAAAAAAAAAAAAAAAAAAAAAAAAAAAAAAAAAAAAAAAAAAAAAAAAAAAAAAAAAAAAAAAAAAAAAAAAAAAAAAAAAAAAAFAAAADwAAAABAAAAAAAAAP/QXwAe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KyQQAP///wEAAAAAAAAAAAAAAAAAAAAAAAAAAAAAAAAAAAAAAAAAAP/QXwB/f38A5+bmA8zMzADAwP8Af39/AAAAAAAAAAAAAAAAAAAAAAAAAAAAIQAAABgAAAAUAAAAyAQAADgNAAB+CAAA7hAAABAAAAAmAAAACAAAAP//////////"/>
              </a:ext>
            </a:extLst>
          </p:cNvSpPr>
          <p:nvPr/>
        </p:nvSpPr>
        <p:spPr>
          <a:xfrm>
            <a:off x="777240" y="2148840"/>
            <a:ext cx="603250" cy="603250"/>
          </a:xfrm>
          <a:prstGeom prst="ellipse">
            <a:avLst/>
          </a:prstGeom>
          <a:solidFill>
            <a:srgbClr val="2B2410"/>
          </a:solidFill>
          <a:ln w="19050" cap="flat" cmpd="sng" algn="ctr">
            <a:solidFill>
              <a:srgbClr val="FFD05F"/>
            </a:solidFill>
            <a:prstDash val="solid"/>
            <a:headEnd type="none"/>
            <a:tailEnd type="none"/>
          </a:ln>
          <a:effectLst/>
        </p:spPr>
      </p:sp>
      <p:sp>
        <p:nvSpPr>
          <p:cNvPr id="5" name="Text 3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BE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QAADgNAAB+CAAA7hAAABAAAAAmAAAACAAAAP//////////"/>
              </a:ext>
            </a:extLst>
          </p:cNvSpPr>
          <p:nvPr/>
        </p:nvSpPr>
        <p:spPr>
          <a:xfrm>
            <a:off x="777240" y="2148840"/>
            <a:ext cx="603250" cy="603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2200" b="1" cap="none">
                <a:solidFill>
                  <a:srgbClr val="FFD05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1</a:t>
            </a:r>
            <a:endParaRPr lang="en-us" sz="2200" cap="none"/>
          </a:p>
        </p:txBody>
      </p:sp>
      <p:sp>
        <p:nvSpPr>
          <p:cNvPr id="6" name="Text 4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I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QAAJASAAB4GAAAWBcAABAAAAAmAAAACAAAAP//////////"/>
              </a:ext>
            </a:extLst>
          </p:cNvSpPr>
          <p:nvPr/>
        </p:nvSpPr>
        <p:spPr>
          <a:xfrm>
            <a:off x="777240" y="3017520"/>
            <a:ext cx="3200400" cy="7772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900" b="1" cap="none">
                <a:solidFill>
                  <a:srgbClr val="FFFFF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Find your mosque</a:t>
            </a:r>
            <a:endParaRPr lang="en-us" sz="1900" cap="none"/>
          </a:p>
        </p:txBody>
      </p:sp>
      <p:sp>
        <p:nvSpPr>
          <p:cNvPr id="7" name="Text 5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QAAFgXAAAwGAAAWCAAABAAAAAmAAAACAAAAP//////////"/>
              </a:ext>
            </a:extLst>
          </p:cNvSpPr>
          <p:nvPr/>
        </p:nvSpPr>
        <p:spPr>
          <a:xfrm>
            <a:off x="777240" y="3794760"/>
            <a:ext cx="3154680" cy="1463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cap="none">
                <a:solidFill>
                  <a:srgbClr val="A6ABB2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One search across the mawaqit.net mosque directory. No account, no API key, no setup wizard.</a:t>
            </a:r>
            <a:endParaRPr lang="en-us" sz="1350" cap="none"/>
          </a:p>
        </p:txBody>
      </p:sp>
      <p:sp>
        <p:nvSpPr>
          <p:cNvPr id="8" name="Shape 6"/>
          <p:cNvSpPr>
            <a:extLst>
              <a:ext uri="smNativeData">
                <pr:smNativeData xmlns:pr="smNativeData" xmlns="smNativeData" val="SMDATA_15_zbzCahMAAAAlAAAACg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P/QXwAeAAAAAQAAACMAAAAjAAAAIwAAAB4AAAAAAAAAZAAAAGQAAAAC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P/QXwB/f38A5+bmA8zMzADAwP8Af39/AAAAAAAAAAAAAAAAAAAAAAAAAAAAIQAAABgAAAAUAAAAJRkAABMPAACCGwAAEw8AABAAAAAmAAAACAAAAP//////////"/>
              </a:ext>
            </a:extLst>
          </p:cNvSpPr>
          <p:nvPr/>
        </p:nvSpPr>
        <p:spPr>
          <a:xfrm>
            <a:off x="4087495" y="2450465"/>
            <a:ext cx="384175" cy="0"/>
          </a:xfrm>
          <a:prstGeom prst="line">
            <a:avLst/>
          </a:prstGeom>
          <a:noFill/>
          <a:ln w="19050" cap="flat" cmpd="sng" algn="ctr">
            <a:solidFill>
              <a:srgbClr val="FFD05F"/>
            </a:solidFill>
            <a:prstDash val="solid"/>
            <a:headEnd type="none"/>
            <a:tailEnd type="triangle" w="med" len="med"/>
          </a:ln>
          <a:effectLst/>
        </p:spPr>
      </p:sp>
      <p:sp>
        <p:nvSpPr>
          <p:cNvPr id="9" name="Shape 7"/>
          <p:cNvSpPr>
            <a:extLst>
              <a:ext uri="smNativeData">
                <pr:smNativeData xmlns:pr="smNativeData" xmlns="smNativeData" val="SMDATA_15_zbzCahMAAAAlAAAAZgAAAA0AAAAAkAAAAEgAAACQAAAASAAAAAAAAAAAAAAAAAAAAAEAAABQAAAAAAAAAAAA8D8AAAAAAADwPwAAAAAAAOA/AAAAAAAA4D8AAAAAAADgPwAAAAAAAOA/AAAAAAAA4D8AAAAAAADgPwAAAAAAAOA/AAAAAAAA4D8CAAAAjAAAAAEAAAAAAAAAKyQQAP///wgAAAAAAAAAAAAAAAAAAAAAAAAAAAAAAAAAAAAAeAAAAAEAAABAAAAAAAAAAAAAAABaAAAAAAAAAAAAAAAAAAAAAAAAAAAAAAAAAAAAAAAAAAAAAAAAAAAAAAAAAAAAAAAAAAAAAAAAAAAAAAAAAAAAAAAAAAAAAAAAAAAAFAAAADwAAAABAAAAAAAAAP/QXwAe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KyQQAP///wEAAAAAAAAAAAAAAAAAAAAAAAAAAAAAAAAAAAAAAAAAAP/QXwB/f38A5+bmA8zMzADAwP8Af39/AAAAAAAAAAAAAAAAAAAAAAAAAAAAIQAAABgAAAAUAAAASxwAADgNAAACIAAA7hAAABAAAAAmAAAACAAAAP//////////"/>
              </a:ext>
            </a:extLst>
          </p:cNvSpPr>
          <p:nvPr/>
        </p:nvSpPr>
        <p:spPr>
          <a:xfrm>
            <a:off x="4599305" y="2148840"/>
            <a:ext cx="603885" cy="603250"/>
          </a:xfrm>
          <a:prstGeom prst="ellipse">
            <a:avLst/>
          </a:prstGeom>
          <a:solidFill>
            <a:srgbClr val="2B2410"/>
          </a:solidFill>
          <a:ln w="19050" cap="flat" cmpd="sng" algn="ctr">
            <a:solidFill>
              <a:srgbClr val="FFD05F"/>
            </a:solidFill>
            <a:prstDash val="solid"/>
            <a:headEnd type="none"/>
            <a:tailEnd type="none"/>
          </a:ln>
          <a:effectLst/>
        </p:spPr>
      </p:sp>
      <p:sp>
        <p:nvSpPr>
          <p:cNvPr id="10" name="Text 8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SxwAADgNAAACIAAA7hAAABAAAAAmAAAACAAAAP//////////"/>
              </a:ext>
            </a:extLst>
          </p:cNvSpPr>
          <p:nvPr/>
        </p:nvSpPr>
        <p:spPr>
          <a:xfrm>
            <a:off x="4599305" y="2148840"/>
            <a:ext cx="603885" cy="603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2200" b="1" cap="none">
                <a:solidFill>
                  <a:srgbClr val="FFD05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2</a:t>
            </a:r>
            <a:endParaRPr lang="en-us" sz="2200" cap="none"/>
          </a:p>
        </p:txBody>
      </p:sp>
      <p:sp>
        <p:nvSpPr>
          <p:cNvPr id="11" name="Text 9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SxwAAJASAAD7LwAAWBcAABAAAAAmAAAACAAAAP//////////"/>
              </a:ext>
            </a:extLst>
          </p:cNvSpPr>
          <p:nvPr/>
        </p:nvSpPr>
        <p:spPr>
          <a:xfrm>
            <a:off x="4599305" y="3017520"/>
            <a:ext cx="3200400" cy="7772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900" b="1" cap="none">
                <a:solidFill>
                  <a:srgbClr val="FFFFF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Your tray learns the times</a:t>
            </a:r>
            <a:endParaRPr lang="en-us" sz="1900" cap="none"/>
          </a:p>
        </p:txBody>
      </p:sp>
      <p:sp>
        <p:nvSpPr>
          <p:cNvPr id="12" name="Text 10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SxwAAFgXAACzLwAAWCAAABAAAAAmAAAACAAAAP//////////"/>
              </a:ext>
            </a:extLst>
          </p:cNvSpPr>
          <p:nvPr/>
        </p:nvSpPr>
        <p:spPr>
          <a:xfrm>
            <a:off x="4599305" y="3794760"/>
            <a:ext cx="3154680" cy="1463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cap="none">
                <a:solidFill>
                  <a:srgbClr val="A6ABB2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Today's schedule lands in the tray with a live countdown to the next prayer — iqama included if you want it.</a:t>
            </a:r>
            <a:endParaRPr lang="en-us" sz="1350" cap="none"/>
          </a:p>
        </p:txBody>
      </p:sp>
      <p:sp>
        <p:nvSpPr>
          <p:cNvPr id="13" name="Shape 11"/>
          <p:cNvSpPr>
            <a:extLst>
              <a:ext uri="smNativeData">
                <pr:smNativeData xmlns:pr="smNativeData" xmlns="smNativeData" val="SMDATA_15_zbzCahMAAAAlAAAACg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P/QXwAeAAAAAQAAACMAAAAjAAAAIwAAAB4AAAAAAAAAZAAAAGQAAAAC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P/QXwB/f38A5+bmA8zMzADAwP8Af39/AAAAAAAAAAAAAAAAAAAAAAAAAAAAIQAAABgAAAAUAAAAqDAAABMPAAAFMwAAEw8AABAAAAAmAAAACAAAAP//////////"/>
              </a:ext>
            </a:extLst>
          </p:cNvSpPr>
          <p:nvPr/>
        </p:nvSpPr>
        <p:spPr>
          <a:xfrm>
            <a:off x="7909560" y="2450465"/>
            <a:ext cx="384175" cy="0"/>
          </a:xfrm>
          <a:prstGeom prst="line">
            <a:avLst/>
          </a:prstGeom>
          <a:noFill/>
          <a:ln w="19050" cap="flat" cmpd="sng" algn="ctr">
            <a:solidFill>
              <a:srgbClr val="FFD05F"/>
            </a:solidFill>
            <a:prstDash val="solid"/>
            <a:headEnd type="none"/>
            <a:tailEnd type="triangle" w="med" len="med"/>
          </a:ln>
          <a:effectLst/>
        </p:spPr>
      </p:sp>
      <p:sp>
        <p:nvSpPr>
          <p:cNvPr id="14" name="Shape 12"/>
          <p:cNvSpPr>
            <a:extLst>
              <a:ext uri="smNativeData">
                <pr:smNativeData xmlns:pr="smNativeData" xmlns="smNativeData" val="SMDATA_15_zbzCahMAAAAlAAAAZgAAAA0AAAAAkAAAAEgAAACQAAAASAAAAAAAAAAAAAAAAAAAAAEAAABQAAAAAAAAAAAA8D8AAAAAAADwPwAAAAAAAOA/AAAAAAAA4D8AAAAAAADgPwAAAAAAAOA/AAAAAAAA4D8AAAAAAADgPwAAAAAAAOA/AAAAAAAA4D8CAAAAjAAAAAEAAAAAAAAAKyQQAP///wgAAAAAAAAAAAAAAAAAAAAAAAAAAAAAAAAAAAAAeAAAAAEAAABAAAAAAAAAAAAAAABaAAAAAAAAAAAAAAAAAAAAAAAAAAAAAAAAAAAAAAAAAAAAAAAAAAAAAAAAAAAAAAAAAAAAAAAAAAAAAAAAAAAAAAAAAAAAAAAAAAAAFAAAADwAAAABAAAAAAAAAP/QXwAe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KyQQAP///wEAAAAAAAAAAAAAAAAAAAAAAAAAAAAAAAAAAAAAAAAAAP/QXwB/f38A5+bmA8zMzADAwP8Af39/AAAAAAAAAAAAAAAAAAAAAAAAAAAAIQAAABgAAAAUAAAAzjMAADgNAACFNwAA7hAAABAAAAAmAAAACAAAAP//////////"/>
              </a:ext>
            </a:extLst>
          </p:cNvSpPr>
          <p:nvPr/>
        </p:nvSpPr>
        <p:spPr>
          <a:xfrm>
            <a:off x="8421370" y="2148840"/>
            <a:ext cx="603885" cy="603250"/>
          </a:xfrm>
          <a:prstGeom prst="ellipse">
            <a:avLst/>
          </a:prstGeom>
          <a:solidFill>
            <a:srgbClr val="2B2410"/>
          </a:solidFill>
          <a:ln w="19050" cap="flat" cmpd="sng" algn="ctr">
            <a:solidFill>
              <a:srgbClr val="FFD05F"/>
            </a:solidFill>
            <a:prstDash val="solid"/>
            <a:headEnd type="none"/>
            <a:tailEnd type="none"/>
          </a:ln>
          <a:effectLst/>
        </p:spPr>
      </p:sp>
      <p:sp>
        <p:nvSpPr>
          <p:cNvPr id="15" name="Text 13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E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zjMAADgNAACFNwAA7hAAABAAAAAmAAAACAAAAP//////////"/>
              </a:ext>
            </a:extLst>
          </p:cNvSpPr>
          <p:nvPr/>
        </p:nvSpPr>
        <p:spPr>
          <a:xfrm>
            <a:off x="8421370" y="2148840"/>
            <a:ext cx="603885" cy="603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2200" b="1" cap="none">
                <a:solidFill>
                  <a:srgbClr val="FFD05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3</a:t>
            </a:r>
            <a:endParaRPr lang="en-us" sz="2200" cap="none"/>
          </a:p>
        </p:txBody>
      </p:sp>
      <p:sp>
        <p:nvSpPr>
          <p:cNvPr id="16" name="Text 14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sAC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zjMAAJASAAB+RwAAWBcAABAAAAAmAAAACAAAAP//////////"/>
              </a:ext>
            </a:extLst>
          </p:cNvSpPr>
          <p:nvPr/>
        </p:nvSpPr>
        <p:spPr>
          <a:xfrm>
            <a:off x="8421370" y="3017520"/>
            <a:ext cx="3200400" cy="7772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900" b="1" cap="none">
                <a:solidFill>
                  <a:srgbClr val="FFFFF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Get called to prayer</a:t>
            </a:r>
            <a:endParaRPr lang="en-us" sz="1900" cap="none"/>
          </a:p>
        </p:txBody>
      </p:sp>
      <p:sp>
        <p:nvSpPr>
          <p:cNvPr id="17" name="Text 15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zjMAAFgXAAA2RwAAWCAAABAAAAAmAAAACAAAAP//////////"/>
              </a:ext>
            </a:extLst>
          </p:cNvSpPr>
          <p:nvPr/>
        </p:nvSpPr>
        <p:spPr>
          <a:xfrm>
            <a:off x="8421370" y="3794760"/>
            <a:ext cx="3154680" cy="1463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cap="none">
                <a:solidFill>
                  <a:srgbClr val="A6ABB2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At prayer time you get a desktop notification and the adhan — or a quiet heads-up, your choice per prayer.</a:t>
            </a:r>
            <a:endParaRPr lang="en-us" sz="1350" cap="none"/>
          </a:p>
        </p:txBody>
      </p:sp>
      <p:sp>
        <p:nvSpPr>
          <p:cNvPr id="18" name="Text 16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gEfCc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QAALgjAAAIRgAAsCUAABAAAAAmAAAACAAAAP//////////"/>
              </a:ext>
            </a:extLst>
          </p:cNvSpPr>
          <p:nvPr/>
        </p:nvSpPr>
        <p:spPr>
          <a:xfrm>
            <a:off x="777240" y="5806440"/>
            <a:ext cx="1060704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200" i="1" cap="none">
                <a:solidFill>
                  <a:srgbClr val="6B7076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Times refresh automatically every day — DST, calendar layouts and iqama offsets handled.</a:t>
            </a:r>
            <a:endParaRPr lang="en-us" sz="12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5"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EAA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O0CAADQLwAAugQAABAAAAAmAAAACAAAAP//////////"/>
              </a:ext>
            </a:extLst>
          </p:cNvSpPr>
          <p:nvPr/>
        </p:nvSpPr>
        <p:spPr>
          <a:xfrm>
            <a:off x="457200" y="475615"/>
            <a:ext cx="7315200" cy="2927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250" b="1" cap="none" spc="91">
                <a:solidFill>
                  <a:srgbClr val="FFD05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04  ·  PER-PRAYER CONTROL  ·  V0.2.0</a:t>
            </a:r>
            <a:endParaRPr lang="en-us" sz="1250" cap="none"/>
          </a:p>
        </p:txBody>
      </p:sp>
      <p:sp>
        <p:nvSpPr>
          <p:cNvPr id="3" name="Text 1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C0FAADwMAAA9QkAABAAAAAmAAAACAAAAP//////////"/>
              </a:ext>
            </a:extLst>
          </p:cNvSpPr>
          <p:nvPr/>
        </p:nvSpPr>
        <p:spPr>
          <a:xfrm>
            <a:off x="457200" y="841375"/>
            <a:ext cx="7498080" cy="7772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3100" b="1" cap="none">
                <a:solidFill>
                  <a:srgbClr val="FFFFF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Each prayer, its own rules.</a:t>
            </a:r>
            <a:endParaRPr lang="en-us" sz="3100" cap="none"/>
          </a:p>
        </p:txBody>
      </p:sp>
      <p:sp>
        <p:nvSpPr>
          <p:cNvPr id="4" name="Shape 2"/>
          <p:cNvSpPr>
            <a:extLst>
              <a:ext uri="smNativeData">
                <pr:smNativeData xmlns:pr="smNativeData" xmlns="smNativeData" val="SMDATA_15_zbzCahMAAAAlAAAAZgAAAA0AAAAAkAAAAEgAAACQAAAASAAAAAAAAAAAAAAAAAAAAAEAAABQAAAAAAAAAAAA8D8AAAAAAADwPwAAAAAAAOA/AAAAAAAA4D8AAAAAAADgPwAAAAAAAOA/AAAAAAAA4D8AAAAAAADgPwAAAAAAAOA/AAAAAAAA4D8CAAAAjAAAAAEAAAAAAAAA/9Bf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CJhyc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9BfAP///wEAAAAAAAAAAAAAAAAAAAAAAAAAAAAAAAAAAAAAAAAAAAAAAAB/f38A5+bmA8zMzADAwP8Af39/AAAAAAAAAAAAAAAAAAAAAAAAAAAAIQAAABgAAAAUAAAA7QIAACYMAACoAwAA4gwAABAAAAAmAAAACAAAAP//////////"/>
              </a:ext>
            </a:extLst>
          </p:cNvSpPr>
          <p:nvPr/>
        </p:nvSpPr>
        <p:spPr>
          <a:xfrm>
            <a:off x="475615" y="1974850"/>
            <a:ext cx="118745" cy="119380"/>
          </a:xfrm>
          <a:prstGeom prst="ellipse">
            <a:avLst/>
          </a:prstGeom>
          <a:solidFill>
            <a:srgbClr val="FFD05F"/>
          </a:solidFill>
          <a:ln>
            <a:noFill/>
          </a:ln>
          <a:effectLst/>
        </p:spPr>
      </p:sp>
      <p:sp>
        <p:nvSpPr>
          <p:cNvPr id="5" name="Text 3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BE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8wQAAF0LAABzLQAAnQ0AABAAAAAmAAAACAAAAP//////////"/>
              </a:ext>
            </a:extLst>
          </p:cNvSpPr>
          <p:nvPr/>
        </p:nvSpPr>
        <p:spPr>
          <a:xfrm>
            <a:off x="804545" y="1847215"/>
            <a:ext cx="658368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700" b="1" cap="none">
                <a:solidFill>
                  <a:srgbClr val="FFFFF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A mode per prayer</a:t>
            </a:r>
            <a:endParaRPr lang="en-us" sz="1700" cap="none"/>
          </a:p>
        </p:txBody>
      </p:sp>
      <p:sp>
        <p:nvSpPr>
          <p:cNvPr id="6" name="Text 4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8wQAALoNAAADLgAA/RAAABAAAAAmAAAACAAAAP//////////"/>
              </a:ext>
            </a:extLst>
          </p:cNvSpPr>
          <p:nvPr/>
        </p:nvSpPr>
        <p:spPr>
          <a:xfrm>
            <a:off x="804545" y="2231390"/>
            <a:ext cx="6675120" cy="5302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300" cap="none">
                <a:solidFill>
                  <a:srgbClr val="A6ABB2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Silent for a quiet popup, Default for a standard one, Adhan for the full call — independently per prayer.</a:t>
            </a:r>
            <a:endParaRPr lang="en-us" sz="1300" cap="none"/>
          </a:p>
        </p:txBody>
      </p:sp>
      <p:sp>
        <p:nvSpPr>
          <p:cNvPr id="7" name="Shape 5"/>
          <p:cNvSpPr>
            <a:extLst>
              <a:ext uri="smNativeData">
                <pr:smNativeData xmlns:pr="smNativeData" xmlns="smNativeData" val="SMDATA_15_zbzCahMAAAAlAAAAZgAAAA0AAAAAkAAAAEgAAACQAAAASAAAAAAAAAAAAAAAAAAAAAEAAABQAAAAAAAAAAAA8D8AAAAAAADwPwAAAAAAAOA/AAAAAAAA4D8AAAAAAADgPwAAAAAAAOA/AAAAAAAA4D8AAAAAAADgPwAAAAAAAOA/AAAAAAAA4D8CAAAAjAAAAAEAAAAAAAAA/9Bf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9BfAP///wEAAAAAAAAAAAAAAAAAAAAAAAAAAAAAAAAAAAAAAAAAAAAAAAB/f38A5+bmA8zMzADAwP8Af39/AAAAAAAAAAAAAAAAAAAAAAAAAAAAIQAAABgAAAAUAAAA7QIAAAMTAACoAwAAvhMAABAAAAAmAAAACAAAAP//////////"/>
              </a:ext>
            </a:extLst>
          </p:cNvSpPr>
          <p:nvPr/>
        </p:nvSpPr>
        <p:spPr>
          <a:xfrm>
            <a:off x="475615" y="3090545"/>
            <a:ext cx="118745" cy="118745"/>
          </a:xfrm>
          <a:prstGeom prst="ellipse">
            <a:avLst/>
          </a:prstGeom>
          <a:solidFill>
            <a:srgbClr val="FFD05F"/>
          </a:solidFill>
          <a:ln>
            <a:noFill/>
          </a:ln>
          <a:effectLst/>
        </p:spPr>
      </p:sp>
      <p:sp>
        <p:nvSpPr>
          <p:cNvPr id="8" name="Text 6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8wQAADoSAABzLQAAehQAABAAAAAmAAAACAAAAP//////////"/>
              </a:ext>
            </a:extLst>
          </p:cNvSpPr>
          <p:nvPr/>
        </p:nvSpPr>
        <p:spPr>
          <a:xfrm>
            <a:off x="804545" y="2962910"/>
            <a:ext cx="658368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700" b="1" cap="none">
                <a:solidFill>
                  <a:srgbClr val="FFFFF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Your sound, your volume</a:t>
            </a:r>
            <a:endParaRPr lang="en-us" sz="1700" cap="none"/>
          </a:p>
        </p:txBody>
      </p:sp>
      <p:sp>
        <p:nvSpPr>
          <p:cNvPr id="9" name="Text 7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FVu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8wQAAJYUAAADLgAA2hcAABAAAAAmAAAACAAAAP//////////"/>
              </a:ext>
            </a:extLst>
          </p:cNvSpPr>
          <p:nvPr/>
        </p:nvSpPr>
        <p:spPr>
          <a:xfrm>
            <a:off x="804545" y="3346450"/>
            <a:ext cx="6675120" cy="5308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300" cap="none">
                <a:solidFill>
                  <a:srgbClr val="A6ABB2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Use the built-in athan or any mp3/wav on your disk, with per-prayer volume from 0 to 100.</a:t>
            </a:r>
            <a:endParaRPr lang="en-us" sz="1300" cap="none"/>
          </a:p>
        </p:txBody>
      </p:sp>
      <p:sp>
        <p:nvSpPr>
          <p:cNvPr id="10" name="Shape 8"/>
          <p:cNvSpPr>
            <a:extLst>
              <a:ext uri="smNativeData">
                <pr:smNativeData xmlns:pr="smNativeData" xmlns="smNativeData" val="SMDATA_15_zbzCahMAAAAlAAAAZgAAAA0AAAAAkAAAAEgAAACQAAAASAAAAAAAAAAAAAAAAAAAAAEAAABQAAAAAAAAAAAA8D8AAAAAAADwPwAAAAAAAOA/AAAAAAAA4D8AAAAAAADgPwAAAAAAAOA/AAAAAAAA4D8AAAAAAADgPwAAAAAAAOA/AAAAAAAA4D8CAAAAjAAAAAEAAAAAAAAA/9Bf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G44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9BfAP///wEAAAAAAAAAAAAAAAAAAAAAAAAAAAAAAAAAAAAAAAAAAAAAAAB/f38A5+bmA8zMzADAwP8Af39/AAAAAAAAAAAAAAAAAAAAAAAAAAAAIQAAABgAAAAUAAAA7QIAAOAZAACoAwAAmxoAABAAAAAmAAAACAAAAP//////////"/>
              </a:ext>
            </a:extLst>
          </p:cNvSpPr>
          <p:nvPr/>
        </p:nvSpPr>
        <p:spPr>
          <a:xfrm>
            <a:off x="475615" y="4206240"/>
            <a:ext cx="118745" cy="118745"/>
          </a:xfrm>
          <a:prstGeom prst="ellipse">
            <a:avLst/>
          </a:prstGeom>
          <a:solidFill>
            <a:srgbClr val="FFD05F"/>
          </a:solidFill>
          <a:ln>
            <a:noFill/>
          </a:ln>
          <a:effectLst/>
        </p:spPr>
      </p:sp>
      <p:sp>
        <p:nvSpPr>
          <p:cNvPr id="11" name="Text 9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BwH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8wQAABYZAABzLQAAVhsAABAAAAAmAAAACAAAAP//////////"/>
              </a:ext>
            </a:extLst>
          </p:cNvSpPr>
          <p:nvPr/>
        </p:nvSpPr>
        <p:spPr>
          <a:xfrm>
            <a:off x="804545" y="4077970"/>
            <a:ext cx="658368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700" b="1" cap="none">
                <a:solidFill>
                  <a:srgbClr val="FFFFF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One heads-up, on time</a:t>
            </a:r>
            <a:endParaRPr lang="en-us" sz="1700" cap="none"/>
          </a:p>
        </p:txBody>
      </p:sp>
      <p:sp>
        <p:nvSpPr>
          <p:cNvPr id="12" name="Text 10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E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8wQAAHMbAAADLgAAth4AABAAAAAmAAAACAAAAP//////////"/>
              </a:ext>
            </a:extLst>
          </p:cNvSpPr>
          <p:nvPr/>
        </p:nvSpPr>
        <p:spPr>
          <a:xfrm>
            <a:off x="804545" y="4462145"/>
            <a:ext cx="6675120" cy="5302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300" cap="none">
                <a:solidFill>
                  <a:srgbClr val="A6ABB2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Notify before 1–30 minutes — exactly one reminder, never a countdown spam.</a:t>
            </a:r>
            <a:endParaRPr lang="en-us" sz="1300" cap="none"/>
          </a:p>
        </p:txBody>
      </p:sp>
      <p:sp>
        <p:nvSpPr>
          <p:cNvPr id="13" name="Shape 11"/>
          <p:cNvSpPr>
            <a:extLst>
              <a:ext uri="smNativeData">
                <pr:smNativeData xmlns:pr="smNativeData" xmlns="smNativeData" val="SMDATA_15_zbzCahMAAAAlAAAAZgAAAA0AAAAAkAAAAEgAAACQAAAASAAAAAAAAAAAAAAAAAAAAAEAAABQAAAAAAAAAAAA8D8AAAAAAADwPwAAAAAAAOA/AAAAAAAA4D8AAAAAAADgPwAAAAAAAOA/AAAAAAAA4D8AAAAAAADgPwAAAAAAAOA/AAAAAAAA4D8CAAAAjAAAAAEAAAAAAAAA/9Bf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E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9BfAP///wEAAAAAAAAAAAAAAAAAAAAAAAAAAAAAAAAAAAAAAAAAAAAAAAB/f38A5+bmA8zMzADAwP8Af39/AAAAAAAAAAAAAAAAAAAAAAAAAAAAIQAAABgAAAAUAAAA7QIAAL0gAACoAwAAeCEAABAAAAAmAAAACAAAAP//////////"/>
              </a:ext>
            </a:extLst>
          </p:cNvSpPr>
          <p:nvPr/>
        </p:nvSpPr>
        <p:spPr>
          <a:xfrm>
            <a:off x="475615" y="5321935"/>
            <a:ext cx="118745" cy="118745"/>
          </a:xfrm>
          <a:prstGeom prst="ellipse">
            <a:avLst/>
          </a:prstGeom>
          <a:solidFill>
            <a:srgbClr val="FFD05F"/>
          </a:solidFill>
          <a:ln>
            <a:noFill/>
          </a:ln>
          <a:effectLst/>
        </p:spPr>
      </p:sp>
      <p:sp>
        <p:nvSpPr>
          <p:cNvPr id="14" name="Text 12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8wQAAPMfAABzLQAAMyIAABAAAAAmAAAACAAAAP//////////"/>
              </a:ext>
            </a:extLst>
          </p:cNvSpPr>
          <p:nvPr/>
        </p:nvSpPr>
        <p:spPr>
          <a:xfrm>
            <a:off x="804545" y="5193665"/>
            <a:ext cx="658368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700" b="1" cap="none">
                <a:solidFill>
                  <a:srgbClr val="FFFFF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Shurouq &amp; bulk edit</a:t>
            </a:r>
            <a:endParaRPr lang="en-us" sz="1700" cap="none"/>
          </a:p>
        </p:txBody>
      </p:sp>
      <p:sp>
        <p:nvSpPr>
          <p:cNvPr id="15" name="Text 13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NBSVSY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8wQAAFAiAAADLgAAkyUAABAAAAAmAAAACAAAAP//////////"/>
              </a:ext>
            </a:extLst>
          </p:cNvSpPr>
          <p:nvPr/>
        </p:nvSpPr>
        <p:spPr>
          <a:xfrm>
            <a:off x="804545" y="5577840"/>
            <a:ext cx="6675120" cy="5302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300" cap="none">
                <a:solidFill>
                  <a:srgbClr val="A6ABB2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Optional pre-sunrise reminder, and one click to apply a prayer's settings to all five.</a:t>
            </a:r>
            <a:endParaRPr lang="en-us" sz="1300" cap="none"/>
          </a:p>
        </p:txBody>
      </p:sp>
      <p:sp>
        <p:nvSpPr>
          <p:cNvPr id="16" name="Shape 14"/>
          <p:cNvSpPr>
            <a:extLst>
              <a:ext uri="smNativeData">
                <pr:smNativeData xmlns:pr="smNativeData" xmlns="smNativeData" val="SMDATA_15_zbzCahMAAAAlAAAAZQAAAA0AAAAAkAAAAEgAAACQAAAASAAAAAAAAAAAAAAAAAAAAAEAAABQAAAATMPwETElsj8AAAAAAADwvwAAAAAAAOA/AAAAAAAA4D8AAAAAAADgPwAAAAAAAOA/AAAAAAAA4D8AAAAAAADgPwAAAAAAAOA/AAAAAAAA4D8CAAAAjAAAAAEAAAAAAAAAFhkdAP///wgAAAAAAAAAAAAAAAAAAAAAAAAAAAAAAAAAAAAAeAAAAAEAAABAAAAAAAAAAAAAAABaAAAAAAAAAAAAAAAAAAAAAAAAAAAAAAAAAAAAAAAAAAAAAAAAAAAAAAAAAAAAAAAAAAAAAAAAAAAAAAAAAAAAAAAAAAAAAAAAAAAAFAAAADwAAAABAAAAAAAAACovNQAZAAAAAQAAACMAAAAjAAAAIwAAAB4AAAAAAAAAZAAAAGQAAAAAAAAAZAAAAGQAAAAVAAAAYAAAAAAAAAAAAAAADwAAACADAAAAAAAAAAAAAAEAAACgMgAAVgcAAKr4//8BAAAAf39/AAEAAABkAAAAAAAAABQAAABAHwAAAAAAACYAAAAAAAAAwOD//wAAAAAmAAAAZAAAABYAAABMAAAAAQAAAAAAAAAGAAAAAAAAAAEAAAAAAAAAPAAAAAAAAAA8AAAAZAAAAGQAAAAAAAAAy8vLADwAAAAAAAAAPAAAAGQAAABkAAAAAAAAABcAAAAUAAAAAAAAAAAAAAD/fwAA/38AAAAAAAAJAAAABAAAAAFTAVseAAAAaAAAAAAAAAAAAAAAAAAAAAAAAAAAAAAAECcAABAnAAAAAAAAAAAAAAAAAAAAAAAAAAAAAAAAAAAAAAAAAAAAAPA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FhkdAP///wEAAAAAAAAAAAAAAAAAAAAAAAAAAAAAAAAAAAAAAAAAACovNQB/f38AAAAAAMvLywDAwP8Af39/AAAAAAAAAAAAAAAAAAAAAAAAAAAAIQAAABgAAAAUAAAAyDEAALgIAAAASAAAaCUAABAAAAAmAAAACAAAAP//////////"/>
              </a:ext>
            </a:extLst>
          </p:cNvSpPr>
          <p:nvPr/>
        </p:nvSpPr>
        <p:spPr>
          <a:xfrm>
            <a:off x="8092440" y="1417320"/>
            <a:ext cx="3611880" cy="4663440"/>
          </a:xfrm>
          <a:prstGeom prst="roundRect">
            <a:avLst>
              <a:gd name="adj" fmla="val 3544"/>
            </a:avLst>
          </a:prstGeom>
          <a:solidFill>
            <a:srgbClr val="16191D"/>
          </a:solidFill>
          <a:ln w="15875" cap="flat" cmpd="sng" algn="ctr">
            <a:solidFill>
              <a:srgbClr val="2A2F35"/>
            </a:solidFill>
            <a:prstDash val="solid"/>
            <a:headEnd type="none"/>
            <a:tailEnd type="none"/>
          </a:ln>
          <a:effectLst>
            <a:outerShdw blurRad="152400" dist="38100" dir="5400000" algn="bl">
              <a:srgbClr val="000000">
                <a:alpha val="40000"/>
              </a:srgbClr>
            </a:outerShdw>
          </a:effectLst>
        </p:spPr>
      </p:sp>
      <p:sp>
        <p:nvSpPr>
          <p:cNvPr id="17" name="Text 15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ZSBl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DEAALsJAAAASAAAiAsAABAAAAAmAAAACAAAAP//////////"/>
              </a:ext>
            </a:extLst>
          </p:cNvSpPr>
          <p:nvPr/>
        </p:nvSpPr>
        <p:spPr>
          <a:xfrm>
            <a:off x="8092440" y="1581785"/>
            <a:ext cx="3611880" cy="2927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1300" b="1" cap="none">
                <a:solidFill>
                  <a:srgbClr val="FFFFF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Prayer Notifications</a:t>
            </a:r>
            <a:endParaRPr lang="en-us" sz="1300" cap="none"/>
          </a:p>
        </p:txBody>
      </p:sp>
      <p:sp>
        <p:nvSpPr>
          <p:cNvPr id="18" name="Shape 16"/>
          <p:cNvSpPr>
            <a:extLst>
              <a:ext uri="smNativeData">
                <pr:smNativeData xmlns:pr="smNativeData" xmlns="smNativeData" val="SMDATA_15_zbzCahMAAAAlAAAAZQAAAA0AAAAAkAAAAEgAAACQAAAASAAAAAAAAAAAAAAAAAAAAAEAAABQAAAAAAAAAAAA8D8AAAAAAADwvwAAAAAAAOA/AAAAAAAA4D8AAAAAAADgPwAAAAAAAOA/AAAAAAAA4D8AAAAAAADgPwAAAAAAAOA/AAAAAAAA4D8CAAAAjAAAAAEAAAAAAAAA/9Bf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hTBj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9BfAP///wEAAAAAAAAAAAAAAAAAAAAAAAAAAAAAAAAAAAAAAAAAAAAAAAB/f38A5+bmA8zMzADAwP8Af39/AAAAAAAAAAAAAAAAAAAAAAAAAAAAIQAAABgAAAAUAAAABTMAAPsLAADSNgAAyA0AABAAAAAmAAAACAAAAP//////////"/>
              </a:ext>
            </a:extLst>
          </p:cNvSpPr>
          <p:nvPr/>
        </p:nvSpPr>
        <p:spPr>
          <a:xfrm>
            <a:off x="8293735" y="1947545"/>
            <a:ext cx="617855" cy="292735"/>
          </a:xfrm>
          <a:prstGeom prst="roundRect">
            <a:avLst>
              <a:gd name="adj" fmla="val 50000"/>
            </a:avLst>
          </a:prstGeom>
          <a:solidFill>
            <a:srgbClr val="FFD05F"/>
          </a:solidFill>
          <a:ln>
            <a:noFill/>
          </a:ln>
          <a:effectLst/>
        </p:spPr>
      </p:sp>
      <p:sp>
        <p:nvSpPr>
          <p:cNvPr id="19" name="Text 17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RLAQ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BTMAAPsLAADSNgAAyA0AABAAAAAmAAAACAAAAP//////////"/>
              </a:ext>
            </a:extLst>
          </p:cNvSpPr>
          <p:nvPr/>
        </p:nvSpPr>
        <p:spPr>
          <a:xfrm>
            <a:off x="8293735" y="1947545"/>
            <a:ext cx="617855" cy="2927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1050" b="1" cap="none">
                <a:solidFill>
                  <a:srgbClr val="141414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Fajr</a:t>
            </a:r>
            <a:endParaRPr lang="en-us" sz="1050" cap="none"/>
          </a:p>
        </p:txBody>
      </p:sp>
      <p:sp>
        <p:nvSpPr>
          <p:cNvPr id="20" name="Text 18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ZJB7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jcAAPsLAABEOwAAyA0AABAAAAAmAAAACAAAAP//////////"/>
              </a:ext>
            </a:extLst>
          </p:cNvSpPr>
          <p:nvPr/>
        </p:nvSpPr>
        <p:spPr>
          <a:xfrm>
            <a:off x="9003030" y="1947545"/>
            <a:ext cx="631190" cy="2927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1050" cap="none">
                <a:solidFill>
                  <a:srgbClr val="6B7076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Dhuhr</a:t>
            </a:r>
            <a:endParaRPr lang="en-us" sz="1050" cap="none"/>
          </a:p>
        </p:txBody>
      </p:sp>
      <p:sp>
        <p:nvSpPr>
          <p:cNvPr id="21" name="Text 19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1DsAAPsLAACNPwAAyA0AABAAAAAmAAAACAAAAP//////////"/>
              </a:ext>
            </a:extLst>
          </p:cNvSpPr>
          <p:nvPr/>
        </p:nvSpPr>
        <p:spPr>
          <a:xfrm>
            <a:off x="9725660" y="1947545"/>
            <a:ext cx="605155" cy="2927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1050" cap="none">
                <a:solidFill>
                  <a:srgbClr val="6B7076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Asr</a:t>
            </a:r>
            <a:endParaRPr lang="en-us" sz="1050" cap="none"/>
          </a:p>
        </p:txBody>
      </p:sp>
      <p:sp>
        <p:nvSpPr>
          <p:cNvPr id="22" name="Text 20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HUAAAPsLAAAnRAAAyA0AABAAAAAmAAAACAAAAP//////////"/>
              </a:ext>
            </a:extLst>
          </p:cNvSpPr>
          <p:nvPr/>
        </p:nvSpPr>
        <p:spPr>
          <a:xfrm>
            <a:off x="10422255" y="1947545"/>
            <a:ext cx="656590" cy="2927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1050" cap="none">
                <a:solidFill>
                  <a:srgbClr val="6B7076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Maghrib</a:t>
            </a:r>
            <a:endParaRPr lang="en-us" sz="1050" cap="none"/>
          </a:p>
        </p:txBody>
      </p:sp>
      <p:sp>
        <p:nvSpPr>
          <p:cNvPr id="23" name="Text 21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t0QAAPsLAACESAAAyA0AABAAAAAmAAAACAAAAP//////////"/>
              </a:ext>
            </a:extLst>
          </p:cNvSpPr>
          <p:nvPr/>
        </p:nvSpPr>
        <p:spPr>
          <a:xfrm>
            <a:off x="11170285" y="1947545"/>
            <a:ext cx="617855" cy="2927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1050" cap="none">
                <a:solidFill>
                  <a:srgbClr val="6B7076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Isha</a:t>
            </a:r>
            <a:endParaRPr lang="en-us" sz="1050" cap="none"/>
          </a:p>
        </p:txBody>
      </p:sp>
      <p:sp>
        <p:nvSpPr>
          <p:cNvPr id="24" name="Shape 22"/>
          <p:cNvSpPr>
            <a:extLst>
              <a:ext uri="smNativeData">
                <pr:smNativeData xmlns:pr="smNativeData" xmlns="smNativeData" val="SMDATA_15_zbzCahMAAAAlAAAAZQAAAA0AAAAAkAAAAEgAAACQAAAASAAAAAAAAAAAAAAAAAAAAAEAAABQAAAAfcucLouJzT8AAAAAAADwvwAAAAAAAOA/AAAAAAAA4D8AAAAAAADgPwAAAAAAAOA/AAAAAAAA4D8AAAAAAADgPwAAAAAAAOA/AAAAAAAA4D8CAAAAjAAAAAEAAAAAAAAAHiInAP///wgAAAAAAAAAAAAAAAAAAAAAAAAAAAAAAAAAAAAAeAAAAAEAAABAAAAAAAAAAAAAAABaAAAAAAAAAAAAAAAAAAAAAAAAAAAAAAAAAAAAAAAAAAAAAAAAAAAAAAAAAAAAAAAAAAAAAAAAAAAAAAAAAAAAAAAAAAAAAAAAAAAAFAAAADwAAAABAAAAAAAAACovNQ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HiInAP///wEAAAAAAAAAAAAAAAAAAAAAAAAAAAAAAAAAAAAAAAAAACovNQB/f38A5+bmA8zMzADAwP8Af39/AAAAAAAAAAAAAAAAAAAAAAAAAAAAIQAAABgAAAAUAAAA9jIAAK4OAABSOQAAEhMAABAAAAAmAAAACAAAAP//////////"/>
              </a:ext>
            </a:extLst>
          </p:cNvSpPr>
          <p:nvPr/>
        </p:nvSpPr>
        <p:spPr>
          <a:xfrm>
            <a:off x="8284210" y="2386330"/>
            <a:ext cx="1033780" cy="713740"/>
          </a:xfrm>
          <a:prstGeom prst="roundRect">
            <a:avLst>
              <a:gd name="adj" fmla="val 11538"/>
            </a:avLst>
          </a:prstGeom>
          <a:solidFill>
            <a:srgbClr val="1E2227"/>
          </a:solidFill>
          <a:ln w="9525" cap="flat" cmpd="sng" algn="ctr">
            <a:solidFill>
              <a:srgbClr val="2A2F35"/>
            </a:solidFill>
            <a:prstDash val="solid"/>
            <a:headEnd type="none"/>
            <a:tailEnd type="none"/>
          </a:ln>
          <a:effectLst/>
        </p:spPr>
      </p:sp>
      <p:sp>
        <p:nvSpPr>
          <p:cNvPr id="25" name="Shape 23"/>
          <p:cNvSpPr>
            <a:extLst>
              <a:ext uri="smNativeData">
                <pr:smNativeData xmlns:pr="smNativeData" xmlns="smNativeData" val="SMDATA_15_zbzCahMAAAAlAAAAZgAAAA0AAAAAkAAAAEgAAACQAAAASAAAAAAAAAAAAAAAAAAAAAEAAABQAAAAAAAAAAAA8D8AAAAAAADwPwAAAAAAAOA/AAAAAAAA4D8AAAAAAADgPwAAAAAAAOA/AAAAAAAA4D8AAAAAAADgPwAAAAAAAOA/AAAAAAAA4D8CAAAAjAAAAAEAAAAAAAAApquy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pquyAP///wEAAAAAAAAAAAAAAAAAAAAAAAAAAAAAAAAAAAAAAAAAAAAAAAB/f38A5+bmA8zMzADAwP8Af39/AAAAAAAAAAAAAAAAAAAAAAAAAAAAIQAAABgAAAAUAAAAvzUAAJUPAACJNgAAXhAAABAAAAAmAAAACAAAAP//////////"/>
              </a:ext>
            </a:extLst>
          </p:cNvSpPr>
          <p:nvPr/>
        </p:nvSpPr>
        <p:spPr>
          <a:xfrm>
            <a:off x="8736965" y="2533015"/>
            <a:ext cx="128270" cy="127635"/>
          </a:xfrm>
          <a:prstGeom prst="ellipse">
            <a:avLst/>
          </a:prstGeom>
          <a:solidFill>
            <a:srgbClr val="A6ABB2"/>
          </a:solidFill>
          <a:ln>
            <a:noFill/>
          </a:ln>
          <a:effectLst/>
        </p:spPr>
      </p:sp>
      <p:sp>
        <p:nvSpPr>
          <p:cNvPr id="26" name="Text 24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9jIAANIQAABSOQAAghIAABAAAAAmAAAACAAAAP//////////"/>
              </a:ext>
            </a:extLst>
          </p:cNvSpPr>
          <p:nvPr/>
        </p:nvSpPr>
        <p:spPr>
          <a:xfrm>
            <a:off x="8284210" y="2734310"/>
            <a:ext cx="10337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1050" cap="none">
                <a:solidFill>
                  <a:srgbClr val="A6ABB2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Silent</a:t>
            </a:r>
            <a:endParaRPr lang="en-us" sz="1050" cap="none"/>
          </a:p>
        </p:txBody>
      </p:sp>
      <p:sp>
        <p:nvSpPr>
          <p:cNvPr id="27" name="Shape 25"/>
          <p:cNvSpPr>
            <a:extLst>
              <a:ext uri="smNativeData">
                <pr:smNativeData xmlns:pr="smNativeData" xmlns="smNativeData" val="SMDATA_15_zbzCahMAAAAlAAAAZQAAAA0AAAAAkAAAAEgAAACQAAAASAAAAAAAAAAAAAAAAAAAAAEAAABQAAAAfcucLouJzT8AAAAAAADwvwAAAAAAAOA/AAAAAAAA4D8AAAAAAADgPwAAAAAAAOA/AAAAAAAA4D8AAAAAAADgPwAAAAAAAOA/AAAAAAAA4D8CAAAAjAAAAAEAAAAAAAAAHiInAP///wgAAAAAAAAAAAAAAAAAAAAAAAAAAAAAAAAAAAAAeAAAAAEAAABAAAAAAAAAAAAAAABaAAAAAAAAAAAAAAAAAAAAAAAAAAAAAAAAAAAAAAAAAAAAAAAAAAAAAAAAAAAAAAAAAAAAAAAAAAAAAAAAAAAAAAAAAAAAAAAAAAAAFAAAADwAAAABAAAAAAAAACovNQ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HiInAP///wEAAAAAAAAAAAAAAAAAAAAAAAAAAAAAAAAAAAAAAAAAACovNQB/f38A5+bmA8zMzADAwP8Af39/AAAAAAAAAAAAAAAAAAAAAAAAAAAAIQAAABgAAAAUAAAA4jkAAK4OAAA9QAAAEhMAABAAAAAmAAAACAAAAP//////////"/>
              </a:ext>
            </a:extLst>
          </p:cNvSpPr>
          <p:nvPr/>
        </p:nvSpPr>
        <p:spPr>
          <a:xfrm>
            <a:off x="9409430" y="2386330"/>
            <a:ext cx="1033145" cy="713740"/>
          </a:xfrm>
          <a:prstGeom prst="roundRect">
            <a:avLst>
              <a:gd name="adj" fmla="val 11538"/>
            </a:avLst>
          </a:prstGeom>
          <a:solidFill>
            <a:srgbClr val="1E2227"/>
          </a:solidFill>
          <a:ln w="9525" cap="flat" cmpd="sng" algn="ctr">
            <a:solidFill>
              <a:srgbClr val="2A2F35"/>
            </a:solidFill>
            <a:prstDash val="solid"/>
            <a:headEnd type="none"/>
            <a:tailEnd type="none"/>
          </a:ln>
          <a:effectLst/>
        </p:spPr>
      </p:sp>
      <p:sp>
        <p:nvSpPr>
          <p:cNvPr id="28" name="Shape 26"/>
          <p:cNvSpPr>
            <a:extLst>
              <a:ext uri="smNativeData">
                <pr:smNativeData xmlns:pr="smNativeData" xmlns="smNativeData" val="SMDATA_15_zbzCahMAAAAlAAAAZgAAAA0AAAAAkAAAAEgAAACQAAAASAAAAAAAAAAAAAAAAAAAAAEAAABQAAAAAAAAAAAA8D8AAAAAAADwPwAAAAAAAOA/AAAAAAAA4D8AAAAAAADgPwAAAAAAAOA/AAAAAAAA4D8AAAAAAADgPwAAAAAAAOA/AAAAAAAA4D8CAAAAjAAAAAEAAAAAAAAApquy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M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pquyAP///wEAAAAAAAAAAAAAAAAAAAAAAAAAAAAAAAAAAAAAAAAAAAAAAAB/f38A5+bmA8zMzADAwP8Af39/AAAAAAAAAAAAAAAAAAAAAAAAAAAAIQAAABgAAAAUAAAAqjwAAJUPAAB0PQAAXhAAABAAAAAmAAAACAAAAP//////////"/>
              </a:ext>
            </a:extLst>
          </p:cNvSpPr>
          <p:nvPr/>
        </p:nvSpPr>
        <p:spPr>
          <a:xfrm>
            <a:off x="9861550" y="2533015"/>
            <a:ext cx="128270" cy="127635"/>
          </a:xfrm>
          <a:prstGeom prst="ellipse">
            <a:avLst/>
          </a:prstGeom>
          <a:solidFill>
            <a:srgbClr val="A6ABB2"/>
          </a:solidFill>
          <a:ln>
            <a:noFill/>
          </a:ln>
          <a:effectLst/>
        </p:spPr>
      </p:sp>
      <p:sp>
        <p:nvSpPr>
          <p:cNvPr id="29" name="Text 27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k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4jkAANIQAAA9QAAAghIAABAAAAAmAAAACAAAAP//////////"/>
              </a:ext>
            </a:extLst>
          </p:cNvSpPr>
          <p:nvPr/>
        </p:nvSpPr>
        <p:spPr>
          <a:xfrm>
            <a:off x="9409430" y="2734310"/>
            <a:ext cx="1033145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1050" cap="none">
                <a:solidFill>
                  <a:srgbClr val="A6ABB2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Default</a:t>
            </a:r>
            <a:endParaRPr lang="en-us" sz="1050" cap="none"/>
          </a:p>
        </p:txBody>
      </p:sp>
      <p:sp>
        <p:nvSpPr>
          <p:cNvPr id="30" name="Shape 28"/>
          <p:cNvSpPr>
            <a:extLst>
              <a:ext uri="smNativeData">
                <pr:smNativeData xmlns:pr="smNativeData" xmlns="smNativeData" val="SMDATA_15_zbzCahMAAAAlAAAAZQAAAA0AAAAAkAAAAEgAAACQAAAASAAAAAAAAAAAAAAAAAAAAAEAAABQAAAAfcucLouJzT8AAAAAAADwvwAAAAAAAOA/AAAAAAAA4D8AAAAAAADgPwAAAAAAAOA/AAAAAAAA4D8AAAAAAADgPwAAAAAAAOA/AAAAAAAA4D8CAAAAjAAAAAEAAAAAAAAAKyQQAP///wgAAAAAAAAAAAAAAAAAAAAAAAAAAAAAAAAAAAAAeAAAAAEAAABAAAAAAAAAAAAAAABaAAAAAAAAAAAAAAAAAAAAAAAAAAAAAAAAAAAAAAAAAAAAAAAAAAAAAAAAAAAAAAAAAAAAAAAAAAAAAAAAAAAAAAAAAAAAAAAAAAAAFAAAADwAAAABAAAAAAAAAP/QXwAe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KyQQAP///wEAAAAAAAAAAAAAAAAAAAAAAAAAAAAAAAAAAAAAAAAAAP/QXwB/f38A5+bmA8zMzADAwP8Af39/AAAAAAAAAAAAAAAAAAAAAAAAAAAAIQAAABgAAAAUAAAAzUAAAK4OAAAoRwAAEhMAABAAAAAmAAAACAAAAP//////////"/>
              </a:ext>
            </a:extLst>
          </p:cNvSpPr>
          <p:nvPr/>
        </p:nvSpPr>
        <p:spPr>
          <a:xfrm>
            <a:off x="10534015" y="2386330"/>
            <a:ext cx="1033145" cy="713740"/>
          </a:xfrm>
          <a:prstGeom prst="roundRect">
            <a:avLst>
              <a:gd name="adj" fmla="val 11538"/>
            </a:avLst>
          </a:prstGeom>
          <a:solidFill>
            <a:srgbClr val="2B2410"/>
          </a:solidFill>
          <a:ln w="19050" cap="flat" cmpd="sng" algn="ctr">
            <a:solidFill>
              <a:srgbClr val="FFD05F"/>
            </a:solidFill>
            <a:prstDash val="solid"/>
            <a:headEnd type="none"/>
            <a:tailEnd type="none"/>
          </a:ln>
          <a:effectLst/>
        </p:spPr>
      </p:sp>
      <p:sp>
        <p:nvSpPr>
          <p:cNvPr id="31" name="Shape 29"/>
          <p:cNvSpPr>
            <a:extLst>
              <a:ext uri="smNativeData">
                <pr:smNativeData xmlns:pr="smNativeData" xmlns="smNativeData" val="SMDATA_15_zbzCahMAAAAlAAAAZgAAAA0AAAAAkAAAAEgAAACQAAAASAAAAAAAAAAAAAAAAAAAAAEAAABQAAAAAAAAAAAA8D8AAAAAAADwPwAAAAAAAOA/AAAAAAAA4D8AAAAAAADgPwAAAAAAAOA/AAAAAAAA4D8AAAAAAADgPwAAAAAAAOA/AAAAAAAA4D8CAAAAjAAAAAEAAAAAAAAA/9Bf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9BfAP///wEAAAAAAAAAAAAAAAAAAAAAAAAAAAAAAAAAAAAAAAAAAAAAAAB/f38A5+bmA8zMzADAwP8Af39/AAAAAAAAAAAAAAAAAAAAAAAAAAAAIQAAABgAAAAUAAAAlkMAAJUPAABfRAAAXhAAABAAAAAmAAAACAAAAP//////////"/>
              </a:ext>
            </a:extLst>
          </p:cNvSpPr>
          <p:nvPr/>
        </p:nvSpPr>
        <p:spPr>
          <a:xfrm>
            <a:off x="10986770" y="2533015"/>
            <a:ext cx="127635" cy="127635"/>
          </a:xfrm>
          <a:prstGeom prst="ellipse">
            <a:avLst/>
          </a:prstGeom>
          <a:solidFill>
            <a:srgbClr val="FFD05F"/>
          </a:solidFill>
          <a:ln>
            <a:noFill/>
          </a:ln>
          <a:effectLst/>
        </p:spPr>
      </p:sp>
      <p:sp>
        <p:nvSpPr>
          <p:cNvPr id="32" name="Text 30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MiagX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zUAAANIQAAAoRwAAghIAABAAAAAmAAAACAAAAP//////////"/>
              </a:ext>
            </a:extLst>
          </p:cNvSpPr>
          <p:nvPr/>
        </p:nvSpPr>
        <p:spPr>
          <a:xfrm>
            <a:off x="10534015" y="2734310"/>
            <a:ext cx="1033145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1050" b="1" cap="none">
                <a:solidFill>
                  <a:srgbClr val="FFD05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Adhan</a:t>
            </a:r>
            <a:endParaRPr lang="en-us" sz="1050" cap="none"/>
          </a:p>
        </p:txBody>
      </p:sp>
      <p:sp>
        <p:nvSpPr>
          <p:cNvPr id="33" name="Text 31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M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BTMAAE4UAADDRgAA/hUAABAAAAAmAAAACAAAAP//////////"/>
              </a:ext>
            </a:extLst>
          </p:cNvSpPr>
          <p:nvPr/>
        </p:nvSpPr>
        <p:spPr>
          <a:xfrm>
            <a:off x="8293735" y="3300730"/>
            <a:ext cx="320929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050" cap="none">
                <a:solidFill>
                  <a:srgbClr val="A6ABB2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Sound   built-in athan  ·  volume 40%</a:t>
            </a:r>
            <a:endParaRPr lang="en-us" sz="1050" cap="none"/>
          </a:p>
        </p:txBody>
      </p:sp>
      <p:sp>
        <p:nvSpPr>
          <p:cNvPr id="34" name="Shape 32"/>
          <p:cNvSpPr>
            <a:extLst>
              <a:ext uri="smNativeData">
                <pr:smNativeData xmlns:pr="smNativeData" xmlns="smNativeData" val="SMDATA_15_zbzCahMAAAAlAAAACg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CovNQ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CIgYW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CovNQB/f38A5+bmA8zMzADAwP8Af39/AAAAAAAAAAAAAAAAAAAAAAAAAAAAIQAAABgAAAAUAAAABTMAAOUWAADDRgAA5RYAABAAAAAmAAAACAAAAP//////////"/>
              </a:ext>
            </a:extLst>
          </p:cNvSpPr>
          <p:nvPr/>
        </p:nvSpPr>
        <p:spPr>
          <a:xfrm>
            <a:off x="8293735" y="3721735"/>
            <a:ext cx="3209290" cy="0"/>
          </a:xfrm>
          <a:prstGeom prst="line">
            <a:avLst/>
          </a:prstGeom>
          <a:noFill/>
          <a:ln w="9525" cap="flat" cmpd="sng" algn="ctr">
            <a:solidFill>
              <a:srgbClr val="2A2F35"/>
            </a:solidFill>
            <a:prstDash val="solid"/>
            <a:headEnd type="none"/>
            <a:tailEnd type="none"/>
          </a:ln>
          <a:effectLst/>
        </p:spPr>
      </p:sp>
      <p:sp>
        <p:nvSpPr>
          <p:cNvPr id="35" name="Text 33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CIgeT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BTMAAAUYAADlOgAA7hkAABAAAAAmAAAACAAAAP//////////"/>
              </a:ext>
            </a:extLst>
          </p:cNvSpPr>
          <p:nvPr/>
        </p:nvSpPr>
        <p:spPr>
          <a:xfrm>
            <a:off x="8293735" y="3904615"/>
            <a:ext cx="1280160" cy="31051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200" b="1" cap="none">
                <a:solidFill>
                  <a:srgbClr val="FFFFF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Notify before</a:t>
            </a:r>
            <a:endParaRPr lang="en-us" sz="1200" cap="none"/>
          </a:p>
        </p:txBody>
      </p:sp>
      <p:sp>
        <p:nvSpPr>
          <p:cNvPr id="36" name="Shape 34"/>
          <p:cNvSpPr>
            <a:extLst>
              <a:ext uri="smNativeData">
                <pr:smNativeData xmlns:pr="smNativeData" xmlns="smNativeData" val="SMDATA_15_zbzCahMAAAAlAAAAZgAAAA0AAAAAkAAAAEgAAACQAAAASAAAAAAAAAAAAAAAAAAAAAEAAABQAAAAAAAAAAAA8D8AAAAAAADwPwAAAAAAAOA/AAAAAAAA4D8AAAAAAADgPwAAAAAAAOA/AAAAAAAA4D8AAAAAAADgPwAAAAAAAOA/AAAAAAAA4D8CAAAAjAAAAAEAAAAAAAAAHiInAP///wgAAAAAAAAAAAAAAAAAAAAAAAAAAAAAAAAAAAAAeAAAAAEAAABAAAAAAAAAAAAAAABaAAAAAAAAAAAAAAAAAAAAAAAAAAAAAAAAAAAAAAAAAAAAAAAAAAAAAAAAAAAAAAAAAAAAAAAAAAAAAAAAAAAAAAAAAAAAAAAAAAAAFAAAADwAAAABAAAAAAAAACovNQ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DpzcD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HiInAP///wEAAAAAAAAAAAAAAAAAAAAAAAAAAAAAAAAAAAAAAAAAACovNQB/f38A5+bmA8zMzADAwP8Af39/AAAAAAAAAAAAAAAAAAAAAAAAAAAAIQAAABgAAAAUAAAAYEIAABMYAAAtRAAA4BkAABAAAAAmAAAACAAAAP//////////"/>
              </a:ext>
            </a:extLst>
          </p:cNvSpPr>
          <p:nvPr/>
        </p:nvSpPr>
        <p:spPr>
          <a:xfrm>
            <a:off x="10789920" y="3913505"/>
            <a:ext cx="292735" cy="292735"/>
          </a:xfrm>
          <a:prstGeom prst="ellipse">
            <a:avLst/>
          </a:prstGeom>
          <a:solidFill>
            <a:srgbClr val="1E2227"/>
          </a:solidFill>
          <a:ln w="9525" cap="flat" cmpd="sng" algn="ctr">
            <a:solidFill>
              <a:srgbClr val="2A2F35"/>
            </a:solidFill>
            <a:prstDash val="solid"/>
            <a:headEnd type="none"/>
            <a:tailEnd type="none"/>
          </a:ln>
          <a:effectLst/>
        </p:spPr>
      </p:sp>
      <p:sp>
        <p:nvSpPr>
          <p:cNvPr id="37" name="Text 35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GxuPj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EIAABMYAAAtRAAA4BkAABAAAAAmAAAACAAAAP//////////"/>
              </a:ext>
            </a:extLst>
          </p:cNvSpPr>
          <p:nvPr/>
        </p:nvSpPr>
        <p:spPr>
          <a:xfrm>
            <a:off x="10789920" y="3913505"/>
            <a:ext cx="292735" cy="2927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1300" cap="none">
                <a:solidFill>
                  <a:srgbClr val="FFFFF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−</a:t>
            </a:r>
            <a:endParaRPr lang="en-us" sz="1300" cap="none"/>
          </a:p>
        </p:txBody>
      </p:sp>
      <p:sp>
        <p:nvSpPr>
          <p:cNvPr id="38" name="Text 36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GVudD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dTsAAOgXAADtQQAACxoAABAAAAAmAAAACAAAAP//////////"/>
              </a:ext>
            </a:extLst>
          </p:cNvSpPr>
          <p:nvPr/>
        </p:nvSpPr>
        <p:spPr>
          <a:xfrm>
            <a:off x="9665335" y="3886200"/>
            <a:ext cx="1051560" cy="34734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1200" b="1" cap="none">
                <a:solidFill>
                  <a:srgbClr val="FFD05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5 Minutes</a:t>
            </a:r>
            <a:endParaRPr lang="en-us" sz="1200" cap="none"/>
          </a:p>
        </p:txBody>
      </p:sp>
      <p:sp>
        <p:nvSpPr>
          <p:cNvPr id="39" name="Shape 37"/>
          <p:cNvSpPr>
            <a:extLst>
              <a:ext uri="smNativeData">
                <pr:smNativeData xmlns:pr="smNativeData" xmlns="smNativeData" val="SMDATA_15_zbzCahMAAAAlAAAAZgAAAA0AAAAAkAAAAEgAAACQAAAASAAAAAAAAAAAAAAAAAAAAAEAAABQAAAAAAAAAAAA8D8AAAAAAADwPwAAAAAAAOA/AAAAAAAA4D8AAAAAAADgPwAAAAAAAOA/AAAAAAAA4D8AAAAAAADgPwAAAAAAAOA/AAAAAAAA4D8CAAAAjAAAAAEAAAAAAAAAHiInAP///wgAAAAAAAAAAAAAAAAAAAAAAAAAAAAAAAAAAAAAeAAAAAEAAABAAAAAAAAAAAAAAABaAAAAAAAAAAAAAAAAAAAAAAAAAAAAAAAAAAAAAAAAAAAAAAAAAAAAAAAAAAAAAAAAAAAAAAAAAAAAAAAAAAAAAAAAAAAAAAAAAAAAFAAAADwAAAABAAAAAAAAACovNQ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HBQci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HiInAP///wEAAAAAAAAAAAAAAAAAAAAAAAAAAAAAAAAAAAAAAAAAACovNQB/f38A5+bmA8zMzADAwP8Af39/AAAAAAAAAAAAAAAAAAAAAAAAAAAAIQAAABgAAAAUAAAAvUQAABMYAACKRgAA4BkAABAAAAAmAAAACAAAAP//////////"/>
              </a:ext>
            </a:extLst>
          </p:cNvSpPr>
          <p:nvPr/>
        </p:nvSpPr>
        <p:spPr>
          <a:xfrm>
            <a:off x="11174095" y="3913505"/>
            <a:ext cx="292735" cy="292735"/>
          </a:xfrm>
          <a:prstGeom prst="ellipse">
            <a:avLst/>
          </a:prstGeom>
          <a:solidFill>
            <a:srgbClr val="1E2227"/>
          </a:solidFill>
          <a:ln w="9525" cap="flat" cmpd="sng" algn="ctr">
            <a:solidFill>
              <a:srgbClr val="2A2F35"/>
            </a:solidFill>
            <a:prstDash val="solid"/>
            <a:headEnd type="none"/>
            <a:tailEnd type="none"/>
          </a:ln>
          <a:effectLst/>
        </p:spPr>
      </p:sp>
      <p:sp>
        <p:nvSpPr>
          <p:cNvPr id="40" name="Text 38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D48YT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vUQAABMYAACKRgAA4BkAABAAAAAmAAAACAAAAP//////////"/>
              </a:ext>
            </a:extLst>
          </p:cNvSpPr>
          <p:nvPr/>
        </p:nvSpPr>
        <p:spPr>
          <a:xfrm>
            <a:off x="11174095" y="3913505"/>
            <a:ext cx="292735" cy="2927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1300" cap="none">
                <a:solidFill>
                  <a:srgbClr val="FFFFF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+</a:t>
            </a:r>
            <a:endParaRPr lang="en-us" sz="1300" cap="none"/>
          </a:p>
        </p:txBody>
      </p:sp>
      <p:sp>
        <p:nvSpPr>
          <p:cNvPr id="41" name="Shape 39"/>
          <p:cNvSpPr>
            <a:extLst>
              <a:ext uri="smNativeData">
                <pr:smNativeData xmlns:pr="smNativeData" xmlns="smNativeData" val="SMDATA_15_zbzCahMAAAAlAAAAZQAAAA0AAAAAkAAAAEgAAACQAAAASAAAAAAAAAAAAAAAAAAAAAEAAABQAAAAAAAAAAAA8D8AAAAAAADwvwAAAAAAAOA/AAAAAAAA4D8AAAAAAADgPwAAAAAAAOA/AAAAAAAA4D8AAAAAAADgPwAAAAAAAOA/AAAAAAAA4D8CAAAAjAAAAAEAAAAAAAAA/9Bf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DxhOm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9BfAP///wEAAAAAAAAAAAAAAAAAAAAAAAAAAAAAAAAAAAAAAAAAAAAAAAB/f38A5+bmA8zMzADAwP8Af39/AAAAAAAAAAAAAAAAAAAAAAAAAAAAIQAAABgAAAAUAAAABTMAABUdAADDRgAAAiAAABAAAAAmAAAACAAAAP//////////"/>
              </a:ext>
            </a:extLst>
          </p:cNvSpPr>
          <p:nvPr/>
        </p:nvSpPr>
        <p:spPr>
          <a:xfrm>
            <a:off x="8293735" y="4727575"/>
            <a:ext cx="3209290" cy="475615"/>
          </a:xfrm>
          <a:prstGeom prst="roundRect">
            <a:avLst>
              <a:gd name="adj" fmla="val 50000"/>
            </a:avLst>
          </a:prstGeom>
          <a:solidFill>
            <a:srgbClr val="FFD05F"/>
          </a:solidFill>
          <a:ln>
            <a:noFill/>
          </a:ln>
          <a:effectLst/>
        </p:spPr>
      </p:sp>
      <p:sp>
        <p:nvSpPr>
          <p:cNvPr id="42" name="Text 40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DpyUH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BTMAABUdAADDRgAAAiAAABAAAAAmAAAACAAAAP//////////"/>
              </a:ext>
            </a:extLst>
          </p:cNvSpPr>
          <p:nvPr/>
        </p:nvSpPr>
        <p:spPr>
          <a:xfrm>
            <a:off x="8293735" y="4727575"/>
            <a:ext cx="3209290" cy="47561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1200" b="1" cap="none">
                <a:solidFill>
                  <a:srgbClr val="141414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Set this for every prayer</a:t>
            </a:r>
            <a:endParaRPr lang="en-us" sz="1200" cap="none"/>
          </a:p>
        </p:txBody>
      </p:sp>
      <p:sp>
        <p:nvSpPr>
          <p:cNvPr id="43" name="Text 41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HQ9Ii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qDAAADImAAAgSQAAxScAABAAAAAmAAAACAAAAP//////////"/>
              </a:ext>
            </a:extLst>
          </p:cNvSpPr>
          <p:nvPr/>
        </p:nvSpPr>
        <p:spPr>
          <a:xfrm>
            <a:off x="7909560" y="6209030"/>
            <a:ext cx="3977640" cy="2559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1100" i="1" cap="none">
                <a:solidFill>
                  <a:srgbClr val="6B7076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The notifications panel</a:t>
            </a:r>
            <a:endParaRPr lang="en-us" sz="11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6"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O0CAADQLwAAugQAABAAAAAmAAAACAAAAP//////////"/>
              </a:ext>
            </a:extLst>
          </p:cNvSpPr>
          <p:nvPr/>
        </p:nvSpPr>
        <p:spPr>
          <a:xfrm>
            <a:off x="457200" y="475615"/>
            <a:ext cx="7315200" cy="2927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250" b="1" cap="none" spc="91">
                <a:solidFill>
                  <a:srgbClr val="FFD05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05  ·  EVERYDAY DETAILS</a:t>
            </a:r>
            <a:endParaRPr lang="en-us" sz="1250" cap="none"/>
          </a:p>
        </p:txBody>
      </p:sp>
      <p:sp>
        <p:nvSpPr>
          <p:cNvPr id="3" name="Text 1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C0FAAArSAAA9QkAABAAAAAmAAAACAAAAP//////////"/>
              </a:ext>
            </a:extLst>
          </p:cNvSpPr>
          <p:nvPr/>
        </p:nvSpPr>
        <p:spPr>
          <a:xfrm>
            <a:off x="457200" y="841375"/>
            <a:ext cx="11274425" cy="7772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3100" b="1" cap="none">
                <a:solidFill>
                  <a:srgbClr val="FFFFF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Small things that make it stick.</a:t>
            </a:r>
            <a:endParaRPr lang="en-us" sz="3100" cap="none"/>
          </a:p>
        </p:txBody>
      </p:sp>
      <p:sp>
        <p:nvSpPr>
          <p:cNvPr id="4" name="Shape 2"/>
          <p:cNvSpPr>
            <a:extLst>
              <a:ext uri="smNativeData">
                <pr:smNativeData xmlns:pr="smNativeData" xmlns="smNativeData" val="SMDATA_15_zbzCahMAAAAlAAAAZQAAAA0AAAAAkAAAAEgAAACQAAAASAAAAAAAAAAAAAAAAAAAAAEAAABQAAAAAAAAAAAA4D8AAAAAAADwvwAAAAAAAOA/AAAAAAAA4D8AAAAAAADgPwAAAAAAAOA/AAAAAAAA4D8AAAAAAADgPwAAAAAAAOA/AAAAAAAA4D8CAAAAjAAAAAEAAAAAAAAAKyQQAP///wgAAAAAAAAAAAAAAAAAAAAAAAAAAAAAAAAAAAAAeAAAAAEAAABAAAAAAAAAAAAAAABaAAAAAAAAAAAAAAAAAAAAAAAAAAAAAAAAAAAAAAAAAAAAAAAAAAAAAAAAAAAAAAAAAAAAAAAAAAAAAAAAAAAAAAAAAAAAAAAAAAAAFAAAADwAAAABAAAAAAAAAP/QX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L0D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KyQQAP///wEAAAAAAAAAAAAAAAAAAAAAAAAAAAAAAAAAAAAAAAAAAP/QXwB/f38A5+bmA8zMzADAwP8Af39/AAAAAAAAAAAAAAAAAAAAAAAAAAAAIQAAABgAAAAUAAAA0AIAADUMAAAQBQAAdQ4AABAAAAAmAAAACAAAAP//////////"/>
              </a:ext>
            </a:extLst>
          </p:cNvSpPr>
          <p:nvPr/>
        </p:nvSpPr>
        <p:spPr>
          <a:xfrm>
            <a:off x="457200" y="1984375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2B2410"/>
          </a:solidFill>
          <a:ln w="12700" cap="flat" cmpd="sng" algn="ctr">
            <a:solidFill>
              <a:srgbClr val="FFD05F"/>
            </a:solidFill>
            <a:prstDash val="solid"/>
            <a:headEnd type="none"/>
            <a:tailEnd type="none"/>
          </a:ln>
          <a:effectLst/>
        </p:spPr>
      </p:sp>
      <p:sp>
        <p:nvSpPr>
          <p:cNvPr id="5" name="Shape 3"/>
          <p:cNvSpPr>
            <a:extLst>
              <a:ext uri="smNativeData">
                <pr:smNativeData xmlns:pr="smNativeData" xmlns="smNativeData" val="SMDATA_15_zbzCahMAAAAlAAAAZgAAAA0AAAAAkAAAAEgAAACQAAAASAAAAAAAAAAAAAAAAAAAAAEAAABQAAAAAAAAAAAA8D8AAAAAAADwPwAAAAAAAOA/AAAAAAAA4D8AAAAAAADgPwAAAAAAAOA/AAAAAAAA4D8AAAAAAADgPwAAAAAAAOA/AAAAAAAA4D8CAAAAjAAAAAEAAAAAAAAA/9Bf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9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9BfAP///wEAAAAAAAAAAAAAAAAAAAAAAAAAAAAAAAAAAAAAAAAAAAAAAAB/f38A5+bmA8zMzADAwP8Af39/AAAAAAAAAAAAAAAAAAAAAAAAAAAAIQAAABgAAAAUAAAAiwMAAPAMAABVBAAAug0AABAAAAAmAAAACAAAAP//////////"/>
              </a:ext>
            </a:extLst>
          </p:cNvSpPr>
          <p:nvPr/>
        </p:nvSpPr>
        <p:spPr>
          <a:xfrm>
            <a:off x="575945" y="2103120"/>
            <a:ext cx="128270" cy="128270"/>
          </a:xfrm>
          <a:prstGeom prst="ellipse">
            <a:avLst/>
          </a:prstGeom>
          <a:solidFill>
            <a:srgbClr val="FFD05F"/>
          </a:solidFill>
          <a:ln>
            <a:noFill/>
          </a:ln>
          <a:effectLst/>
        </p:spPr>
      </p:sp>
      <p:sp>
        <p:nvSpPr>
          <p:cNvPr id="6" name="Text 4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HcB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TQYAAMILAAA9JQAAAg4AABAAAAAmAAAACAAAAP//////////"/>
              </a:ext>
            </a:extLst>
          </p:cNvSpPr>
          <p:nvPr/>
        </p:nvSpPr>
        <p:spPr>
          <a:xfrm>
            <a:off x="1024255" y="1911350"/>
            <a:ext cx="50292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650" b="1" cap="none">
                <a:solidFill>
                  <a:srgbClr val="FFFFF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Countdown tray icon</a:t>
            </a:r>
            <a:endParaRPr lang="en-us" sz="1650" cap="none"/>
          </a:p>
        </p:txBody>
      </p:sp>
      <p:sp>
        <p:nvSpPr>
          <p:cNvPr id="7" name="Text 5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TQYAAB4OAACFJQAAmxEAABAAAAAmAAAACAAAAP//////////"/>
              </a:ext>
            </a:extLst>
          </p:cNvSpPr>
          <p:nvPr/>
        </p:nvSpPr>
        <p:spPr>
          <a:xfrm>
            <a:off x="1024255" y="2294890"/>
            <a:ext cx="5074920" cy="5670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300" cap="none">
                <a:solidFill>
                  <a:srgbClr val="A6ABB2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The badge shifts green, orange, red as the next prayer approaches.</a:t>
            </a:r>
            <a:endParaRPr lang="en-us" sz="1300" cap="none"/>
          </a:p>
        </p:txBody>
      </p:sp>
      <p:sp>
        <p:nvSpPr>
          <p:cNvPr id="8" name="Shape 6"/>
          <p:cNvSpPr>
            <a:extLst>
              <a:ext uri="smNativeData">
                <pr:smNativeData xmlns:pr="smNativeData" xmlns="smNativeData" val="SMDATA_15_zbzCahMAAAAlAAAAZQAAAA0AAAAAkAAAAEgAAACQAAAASAAAAAAAAAAAAAAAAAAAAAEAAABQAAAAAAAAAAAA4D8AAAAAAADwvwAAAAAAAOA/AAAAAAAA4D8AAAAAAADgPwAAAAAAAOA/AAAAAAAA4D8AAAAAAADgPwAAAAAAAOA/AAAAAAAA4D8CAAAAjAAAAAEAAAAAAAAAKyQQAP///wgAAAAAAAAAAAAAAAAAAAAAAAAAAAAAAAAAAAAAeAAAAAEAAABAAAAAAAAAAAAAAABaAAAAAAAAAAAAAAAAAAAAAAAAAAAAAAAAAAAAAAAAAAAAAAAAAAAAAAAAAAAAAAAAAAAAAAAAAAAAAAAAAAAAAAAAAAAAAAAAAAAAFAAAADwAAAABAAAAAAAAAP/QX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FTAVs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KyQQAP///wEAAAAAAAAAAAAAAAAAAAAAAAAAAAAAAAAAAAAAAAAAAP/QXwB/f38A5+bmA8zMzADAwP8Af39/AAAAAAAAAAAAAAAAAAAAAAAAAAAAIQAAABgAAAAUAAAAqCcAADUMAADoKQAAdQ4AABAAAAAmAAAACAAAAP//////////"/>
              </a:ext>
            </a:extLst>
          </p:cNvSpPr>
          <p:nvPr/>
        </p:nvSpPr>
        <p:spPr>
          <a:xfrm>
            <a:off x="6446520" y="1984375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2B2410"/>
          </a:solidFill>
          <a:ln w="12700" cap="flat" cmpd="sng" algn="ctr">
            <a:solidFill>
              <a:srgbClr val="FFD05F"/>
            </a:solidFill>
            <a:prstDash val="solid"/>
            <a:headEnd type="none"/>
            <a:tailEnd type="none"/>
          </a:ln>
          <a:effectLst/>
        </p:spPr>
      </p:sp>
      <p:sp>
        <p:nvSpPr>
          <p:cNvPr id="9" name="Shape 7"/>
          <p:cNvSpPr>
            <a:extLst>
              <a:ext uri="smNativeData">
                <pr:smNativeData xmlns:pr="smNativeData" xmlns="smNativeData" val="SMDATA_15_zbzCahMAAAAlAAAAZgAAAA0AAAAAkAAAAEgAAACQAAAASAAAAAAAAAAAAAAAAAAAAAEAAABQAAAAAAAAAAAA8D8AAAAAAADwPwAAAAAAAOA/AAAAAAAA4D8AAAAAAADgPwAAAAAAAOA/AAAAAAAA4D8AAAAAAADgPwAAAAAAAOA/AAAAAAAA4D8CAAAAjAAAAAEAAAAAAAAA/9Bf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ZSBl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9BfAP///wEAAAAAAAAAAAAAAAAAAAAAAAAAAAAAAAAAAAAAAAAAAAAAAAB/f38A5+bmA8zMzADAwP8Af39/AAAAAAAAAAAAAAAAAAAAAAAAAAAAIQAAABgAAAAUAAAAYygAAPAMAAAtKQAAug0AABAAAAAmAAAACAAAAP//////////"/>
              </a:ext>
            </a:extLst>
          </p:cNvSpPr>
          <p:nvPr/>
        </p:nvSpPr>
        <p:spPr>
          <a:xfrm>
            <a:off x="6565265" y="2103120"/>
            <a:ext cx="128270" cy="128270"/>
          </a:xfrm>
          <a:prstGeom prst="ellipse">
            <a:avLst/>
          </a:prstGeom>
          <a:solidFill>
            <a:srgbClr val="FFD05F"/>
          </a:solidFill>
          <a:ln>
            <a:noFill/>
          </a:ln>
          <a:effectLst/>
        </p:spPr>
      </p:sp>
      <p:sp>
        <p:nvSpPr>
          <p:cNvPr id="10" name="Text 8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hTBj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JSsAAMILAAAVSgAAAg4AABAAAAAmAAAACAAAAP//////////"/>
              </a:ext>
            </a:extLst>
          </p:cNvSpPr>
          <p:nvPr/>
        </p:nvSpPr>
        <p:spPr>
          <a:xfrm>
            <a:off x="7013575" y="1911350"/>
            <a:ext cx="50292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650" b="1" cap="none">
                <a:solidFill>
                  <a:srgbClr val="FFFFF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Month calendar</a:t>
            </a:r>
            <a:endParaRPr lang="en-us" sz="1650" cap="none"/>
          </a:p>
        </p:txBody>
      </p:sp>
      <p:sp>
        <p:nvSpPr>
          <p:cNvPr id="11" name="Text 9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RLAQ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JSsAAB4OAABdSgAAmxEAABAAAAAmAAAACAAAAP//////////"/>
              </a:ext>
            </a:extLst>
          </p:cNvSpPr>
          <p:nvPr/>
        </p:nvSpPr>
        <p:spPr>
          <a:xfrm>
            <a:off x="7013575" y="2294890"/>
            <a:ext cx="5074920" cy="5670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300" cap="none">
                <a:solidFill>
                  <a:srgbClr val="A6ABB2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The full adhan &amp; iqama table for the month, today highlighted.</a:t>
            </a:r>
            <a:endParaRPr lang="en-us" sz="1300" cap="none"/>
          </a:p>
        </p:txBody>
      </p:sp>
      <p:sp>
        <p:nvSpPr>
          <p:cNvPr id="12" name="Shape 10"/>
          <p:cNvSpPr>
            <a:extLst>
              <a:ext uri="smNativeData">
                <pr:smNativeData xmlns:pr="smNativeData" xmlns="smNativeData" val="SMDATA_15_zbzCahMAAAAlAAAAZQAAAA0AAAAAkAAAAEgAAACQAAAASAAAAAAAAAAAAAAAAAAAAAEAAABQAAAAAAAAAAAA4D8AAAAAAADwvwAAAAAAAOA/AAAAAAAA4D8AAAAAAADgPwAAAAAAAOA/AAAAAAAA4D8AAAAAAADgPwAAAAAAAOA/AAAAAAAA4D8CAAAAjAAAAAEAAAAAAAAAKyQQAP///wgAAAAAAAAAAAAAAAAAAAAAAAAAAAAAAAAAAAAAeAAAAAEAAABAAAAAAAAAAAAAAABaAAAAAAAAAAAAAAAAAAAAAAAAAAAAAAAAAAAAAAAAAAAAAAAAAAAAAAAAAAAAAAAAAAAAAAAAAAAAAAAAAAAAAAAAAAAAAAAAAAAAFAAAADwAAAABAAAAAAAAAP/QX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ZJB7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KyQQAP///wEAAAAAAAAAAAAAAAAAAAAAAAAAAAAAAAAAAAAAAAAAAP/QXwB/f38A5+bmA8zMzADAwP8Af39/AAAAAAAAAAAAAAAAAAAAAAAAAAAAIQAAABgAAAAUAAAA0AIAAO0UAAAQBQAALRcAABAAAAAmAAAACAAAAP//////////"/>
              </a:ext>
            </a:extLst>
          </p:cNvSpPr>
          <p:nvPr/>
        </p:nvSpPr>
        <p:spPr>
          <a:xfrm>
            <a:off x="457200" y="3401695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2B2410"/>
          </a:solidFill>
          <a:ln w="12700" cap="flat" cmpd="sng" algn="ctr">
            <a:solidFill>
              <a:srgbClr val="FFD05F"/>
            </a:solidFill>
            <a:prstDash val="solid"/>
            <a:headEnd type="none"/>
            <a:tailEnd type="none"/>
          </a:ln>
          <a:effectLst/>
        </p:spPr>
      </p:sp>
      <p:sp>
        <p:nvSpPr>
          <p:cNvPr id="13" name="Shape 11"/>
          <p:cNvSpPr>
            <a:extLst>
              <a:ext uri="smNativeData">
                <pr:smNativeData xmlns:pr="smNativeData" xmlns="smNativeData" val="SMDATA_15_zbzCahMAAAAlAAAAZgAAAA0AAAAAkAAAAEgAAACQAAAASAAAAAAAAAAAAAAAAAAAAAEAAABQAAAAAAAAAAAA8D8AAAAAAADwPwAAAAAAAOA/AAAAAAAA4D8AAAAAAADgPwAAAAAAAOA/AAAAAAAA4D8AAAAAAADgPwAAAAAAAOA/AAAAAAAA4D8CAAAAjAAAAAEAAAAAAAAA/9Bf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9BfAP///wEAAAAAAAAAAAAAAAAAAAAAAAAAAAAAAAAAAAAAAAAAAAAAAAB/f38A5+bmA8zMzADAwP8Af39/AAAAAAAAAAAAAAAAAAAAAAAAAAAAIQAAABgAAAAUAAAAiwMAAKgVAABVBAAAchYAABAAAAAmAAAACAAAAP//////////"/>
              </a:ext>
            </a:extLst>
          </p:cNvSpPr>
          <p:nvPr/>
        </p:nvSpPr>
        <p:spPr>
          <a:xfrm>
            <a:off x="575945" y="3520440"/>
            <a:ext cx="128270" cy="128270"/>
          </a:xfrm>
          <a:prstGeom prst="ellipse">
            <a:avLst/>
          </a:prstGeom>
          <a:solidFill>
            <a:srgbClr val="FFD05F"/>
          </a:solidFill>
          <a:ln>
            <a:noFill/>
          </a:ln>
          <a:effectLst/>
        </p:spPr>
      </p:sp>
      <p:sp>
        <p:nvSpPr>
          <p:cNvPr id="14" name="Text 12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TQYAAHoUAAA9JQAAuhYAABAAAAAmAAAACAAAAP//////////"/>
              </a:ext>
            </a:extLst>
          </p:cNvSpPr>
          <p:nvPr/>
        </p:nvSpPr>
        <p:spPr>
          <a:xfrm>
            <a:off x="1024255" y="3328670"/>
            <a:ext cx="50292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650" b="1" cap="none">
                <a:solidFill>
                  <a:srgbClr val="FFFFF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Iqama alerts</a:t>
            </a:r>
            <a:endParaRPr lang="en-us" sz="1650" cap="none"/>
          </a:p>
        </p:txBody>
      </p:sp>
      <p:sp>
        <p:nvSpPr>
          <p:cNvPr id="15" name="Text 13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TQYAANYWAACFJQAAUxoAABAAAAAmAAAACAAAAP//////////"/>
              </a:ext>
            </a:extLst>
          </p:cNvSpPr>
          <p:nvPr/>
        </p:nvSpPr>
        <p:spPr>
          <a:xfrm>
            <a:off x="1024255" y="3712210"/>
            <a:ext cx="5074920" cy="5670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300" cap="none">
                <a:solidFill>
                  <a:srgbClr val="A6ABB2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An optional heads-up when each iqama starts.</a:t>
            </a:r>
            <a:endParaRPr lang="en-us" sz="1300" cap="none"/>
          </a:p>
        </p:txBody>
      </p:sp>
      <p:sp>
        <p:nvSpPr>
          <p:cNvPr id="16" name="Shape 14"/>
          <p:cNvSpPr>
            <a:extLst>
              <a:ext uri="smNativeData">
                <pr:smNativeData xmlns:pr="smNativeData" xmlns="smNativeData" val="SMDATA_15_zbzCahMAAAAlAAAAZQAAAA0AAAAAkAAAAEgAAACQAAAASAAAAAAAAAAAAAAAAAAAAAEAAABQAAAAAAAAAAAA4D8AAAAAAADwvwAAAAAAAOA/AAAAAAAA4D8AAAAAAADgPwAAAAAAAOA/AAAAAAAA4D8AAAAAAADgPwAAAAAAAOA/AAAAAAAA4D8CAAAAjAAAAAEAAAAAAAAAKyQQAP///wgAAAAAAAAAAAAAAAAAAAAAAAAAAAAAAAAAAAAAeAAAAAEAAABAAAAAAAAAAAAAAABaAAAAAAAAAAAAAAAAAAAAAAAAAAAAAAAAAAAAAAAAAAAAAAAAAAAAAAAAAAAAAAAAAAAAAAAAAAAAAAAAAAAAAAAAAAAAAAAAAAAAFAAAADwAAAABAAAAAAAAAP/QX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KyQQAP///wEAAAAAAAAAAAAAAAAAAAAAAAAAAAAAAAAAAAAAAAAAAP/QXwB/f38A5+bmA8zMzADAwP8Af39/AAAAAAAAAAAAAAAAAAAAAAAAAAAAIQAAABgAAAAUAAAAqCcAAO0UAADoKQAALRcAABAAAAAmAAAACAAAAP//////////"/>
              </a:ext>
            </a:extLst>
          </p:cNvSpPr>
          <p:nvPr/>
        </p:nvSpPr>
        <p:spPr>
          <a:xfrm>
            <a:off x="6446520" y="3401695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2B2410"/>
          </a:solidFill>
          <a:ln w="12700" cap="flat" cmpd="sng" algn="ctr">
            <a:solidFill>
              <a:srgbClr val="FFD05F"/>
            </a:solidFill>
            <a:prstDash val="solid"/>
            <a:headEnd type="none"/>
            <a:tailEnd type="none"/>
          </a:ln>
          <a:effectLst/>
        </p:spPr>
      </p:sp>
      <p:sp>
        <p:nvSpPr>
          <p:cNvPr id="17" name="Shape 15"/>
          <p:cNvSpPr>
            <a:extLst>
              <a:ext uri="smNativeData">
                <pr:smNativeData xmlns:pr="smNativeData" xmlns="smNativeData" val="SMDATA_15_zbzCahMAAAAlAAAAZgAAAA0AAAAAkAAAAEgAAACQAAAASAAAAAAAAAAAAAAAAAAAAAEAAABQAAAAAAAAAAAA8D8AAAAAAADwPwAAAAAAAOA/AAAAAAAA4D8AAAAAAADgPwAAAAAAAOA/AAAAAAAA4D8AAAAAAADgPwAAAAAAAOA/AAAAAAAA4D8CAAAAjAAAAAEAAAAAAAAA/9Bf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9BfAP///wEAAAAAAAAAAAAAAAAAAAAAAAAAAAAAAAAAAAAAAAAAAAAAAAB/f38A5+bmA8zMzADAwP8Af39/AAAAAAAAAAAAAAAAAAAAAAAAAAAAIQAAABgAAAAUAAAAYygAAKgVAAAtKQAAchYAABAAAAAmAAAACAAAAP//////////"/>
              </a:ext>
            </a:extLst>
          </p:cNvSpPr>
          <p:nvPr/>
        </p:nvSpPr>
        <p:spPr>
          <a:xfrm>
            <a:off x="6565265" y="3520440"/>
            <a:ext cx="128270" cy="128270"/>
          </a:xfrm>
          <a:prstGeom prst="ellipse">
            <a:avLst/>
          </a:prstGeom>
          <a:solidFill>
            <a:srgbClr val="FFD05F"/>
          </a:solidFill>
          <a:ln>
            <a:noFill/>
          </a:ln>
          <a:effectLst/>
        </p:spPr>
      </p:sp>
      <p:sp>
        <p:nvSpPr>
          <p:cNvPr id="18" name="Text 16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JSsAAHoUAAAVSgAAuhYAABAAAAAmAAAACAAAAP//////////"/>
              </a:ext>
            </a:extLst>
          </p:cNvSpPr>
          <p:nvPr/>
        </p:nvSpPr>
        <p:spPr>
          <a:xfrm>
            <a:off x="7013575" y="3328670"/>
            <a:ext cx="50292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650" b="1" cap="none">
                <a:solidFill>
                  <a:srgbClr val="FFFFF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Starts at login</a:t>
            </a:r>
            <a:endParaRPr lang="en-us" sz="1650" cap="none"/>
          </a:p>
        </p:txBody>
      </p:sp>
      <p:sp>
        <p:nvSpPr>
          <p:cNvPr id="19" name="Text 17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JSsAANYWAABdSgAAUxoAABAAAAAmAAAACAAAAP//////////"/>
              </a:ext>
            </a:extLst>
          </p:cNvSpPr>
          <p:nvPr/>
        </p:nvSpPr>
        <p:spPr>
          <a:xfrm>
            <a:off x="7013575" y="3712210"/>
            <a:ext cx="5074920" cy="5670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300" cap="none">
                <a:solidFill>
                  <a:srgbClr val="A6ABB2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Boots minimized to the tray — it never opens itself in your way.</a:t>
            </a:r>
            <a:endParaRPr lang="en-us" sz="1300" cap="none"/>
          </a:p>
        </p:txBody>
      </p:sp>
      <p:sp>
        <p:nvSpPr>
          <p:cNvPr id="20" name="Shape 18"/>
          <p:cNvSpPr>
            <a:extLst>
              <a:ext uri="smNativeData">
                <pr:smNativeData xmlns:pr="smNativeData" xmlns="smNativeData" val="SMDATA_15_zbzCahMAAAAlAAAAZQAAAA0AAAAAkAAAAEgAAACQAAAASAAAAAAAAAAAAAAAAAAAAAEAAABQAAAAAAAAAAAA4D8AAAAAAADwvwAAAAAAAOA/AAAAAAAA4D8AAAAAAADgPwAAAAAAAOA/AAAAAAAA4D8AAAAAAADgPwAAAAAAAOA/AAAAAAAA4D8CAAAAjAAAAAEAAAAAAAAAKyQQAP///wgAAAAAAAAAAAAAAAAAAAAAAAAAAAAAAAAAAAAAeAAAAAEAAABAAAAAAAAAAAAAAABaAAAAAAAAAAAAAAAAAAAAAAAAAAAAAAAAAAAAAAAAAAAAAAAAAAAAAAAAAAAAAAAAAAAAAAAAAAAAAAAAAAAAAAAAAAAAAAAAAAAAFAAAADwAAAABAAAAAAAAAP/QX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KyQQAP///wEAAAAAAAAAAAAAAAAAAAAAAAAAAAAAAAAAAAAAAAAAAP/QXwB/f38A5+bmA8zMzADAwP8Af39/AAAAAAAAAAAAAAAAAAAAAAAAAAAAIQAAABgAAAAUAAAA0AIAAKUdAAAQBQAA5R8AABAAAAAmAAAACAAAAP//////////"/>
              </a:ext>
            </a:extLst>
          </p:cNvSpPr>
          <p:nvPr/>
        </p:nvSpPr>
        <p:spPr>
          <a:xfrm>
            <a:off x="457200" y="4819015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2B2410"/>
          </a:solidFill>
          <a:ln w="12700" cap="flat" cmpd="sng" algn="ctr">
            <a:solidFill>
              <a:srgbClr val="FFD05F"/>
            </a:solidFill>
            <a:prstDash val="solid"/>
            <a:headEnd type="none"/>
            <a:tailEnd type="none"/>
          </a:ln>
          <a:effectLst/>
        </p:spPr>
      </p:sp>
      <p:sp>
        <p:nvSpPr>
          <p:cNvPr id="21" name="Shape 19"/>
          <p:cNvSpPr>
            <a:extLst>
              <a:ext uri="smNativeData">
                <pr:smNativeData xmlns:pr="smNativeData" xmlns="smNativeData" val="SMDATA_15_zbzCahMAAAAlAAAAZgAAAA0AAAAAkAAAAEgAAACQAAAASAAAAAAAAAAAAAAAAAAAAAEAAABQAAAAAAAAAAAA8D8AAAAAAADwPwAAAAAAAOA/AAAAAAAA4D8AAAAAAADgPwAAAAAAAOA/AAAAAAAA4D8AAAAAAADgPwAAAAAAAOA/AAAAAAAA4D8CAAAAjAAAAAEAAAAAAAAA/9Bf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9BfAP///wEAAAAAAAAAAAAAAAAAAAAAAAAAAAAAAAAAAAAAAAAAAAAAAAB/f38A5+bmA8zMzADAwP8Af39/AAAAAAAAAAAAAAAAAAAAAAAAAAAAIQAAABgAAAAUAAAAiwMAAGAeAABVBAAAKh8AABAAAAAmAAAACAAAAP//////////"/>
              </a:ext>
            </a:extLst>
          </p:cNvSpPr>
          <p:nvPr/>
        </p:nvSpPr>
        <p:spPr>
          <a:xfrm>
            <a:off x="575945" y="4937760"/>
            <a:ext cx="128270" cy="128270"/>
          </a:xfrm>
          <a:prstGeom prst="ellipse">
            <a:avLst/>
          </a:prstGeom>
          <a:solidFill>
            <a:srgbClr val="FFD05F"/>
          </a:solidFill>
          <a:ln>
            <a:noFill/>
          </a:ln>
          <a:effectLst/>
        </p:spPr>
      </p:sp>
      <p:sp>
        <p:nvSpPr>
          <p:cNvPr id="22" name="Text 20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TQYAADIdAAA9JQAAch8AABAAAAAmAAAACAAAAP//////////"/>
              </a:ext>
            </a:extLst>
          </p:cNvSpPr>
          <p:nvPr/>
        </p:nvSpPr>
        <p:spPr>
          <a:xfrm>
            <a:off x="1024255" y="4745990"/>
            <a:ext cx="50292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650" b="1" cap="none">
                <a:solidFill>
                  <a:srgbClr val="FFFFF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Shurouq reminder</a:t>
            </a:r>
            <a:endParaRPr lang="en-us" sz="1650" cap="none"/>
          </a:p>
        </p:txBody>
      </p:sp>
      <p:sp>
        <p:nvSpPr>
          <p:cNvPr id="23" name="Text 21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TQYAAI4fAACFJQAACyMAABAAAAAmAAAACAAAAP//////////"/>
              </a:ext>
            </a:extLst>
          </p:cNvSpPr>
          <p:nvPr/>
        </p:nvSpPr>
        <p:spPr>
          <a:xfrm>
            <a:off x="1024255" y="5129530"/>
            <a:ext cx="5074920" cy="5670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300" cap="none">
                <a:solidFill>
                  <a:srgbClr val="A6ABB2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One notification before sunrise, for those who fast.</a:t>
            </a:r>
            <a:endParaRPr lang="en-us" sz="1300" cap="none"/>
          </a:p>
        </p:txBody>
      </p:sp>
      <p:sp>
        <p:nvSpPr>
          <p:cNvPr id="24" name="Shape 22"/>
          <p:cNvSpPr>
            <a:extLst>
              <a:ext uri="smNativeData">
                <pr:smNativeData xmlns:pr="smNativeData" xmlns="smNativeData" val="SMDATA_15_zbzCahMAAAAlAAAAZQAAAA0AAAAAkAAAAEgAAACQAAAASAAAAAAAAAAAAAAAAAAAAAEAAABQAAAAAAAAAAAA4D8AAAAAAADwvwAAAAAAAOA/AAAAAAAA4D8AAAAAAADgPwAAAAAAAOA/AAAAAAAA4D8AAAAAAADgPwAAAAAAAOA/AAAAAAAA4D8CAAAAjAAAAAEAAAAAAAAAKyQQAP///wgAAAAAAAAAAAAAAAAAAAAAAAAAAAAAAAAAAAAAeAAAAAEAAABAAAAAAAAAAAAAAABaAAAAAAAAAAAAAAAAAAAAAAAAAAAAAAAAAAAAAAAAAAAAAAAAAAAAAAAAAAAAAAAAAAAAAAAAAAAAAAAAAAAAAAAAAAAAAAAAAAAAFAAAADwAAAABAAAAAAAAAP/QX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KyQQAP///wEAAAAAAAAAAAAAAAAAAAAAAAAAAAAAAAAAAAAAAAAAAP/QXwB/f38A5+bmA8zMzADAwP8Af39/AAAAAAAAAAAAAAAAAAAAAAAAAAAAIQAAABgAAAAUAAAAqCcAAKUdAADoKQAA5R8AABAAAAAmAAAACAAAAP//////////"/>
              </a:ext>
            </a:extLst>
          </p:cNvSpPr>
          <p:nvPr/>
        </p:nvSpPr>
        <p:spPr>
          <a:xfrm>
            <a:off x="6446520" y="4819015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2B2410"/>
          </a:solidFill>
          <a:ln w="12700" cap="flat" cmpd="sng" algn="ctr">
            <a:solidFill>
              <a:srgbClr val="FFD05F"/>
            </a:solidFill>
            <a:prstDash val="solid"/>
            <a:headEnd type="none"/>
            <a:tailEnd type="none"/>
          </a:ln>
          <a:effectLst/>
        </p:spPr>
      </p:sp>
      <p:sp>
        <p:nvSpPr>
          <p:cNvPr id="25" name="Shape 23"/>
          <p:cNvSpPr>
            <a:extLst>
              <a:ext uri="smNativeData">
                <pr:smNativeData xmlns:pr="smNativeData" xmlns="smNativeData" val="SMDATA_15_zbzCahMAAAAlAAAAZgAAAA0AAAAAkAAAAEgAAACQAAAASAAAAAAAAAAAAAAAAAAAAAEAAABQAAAAAAAAAAAA8D8AAAAAAADwPwAAAAAAAOA/AAAAAAAA4D8AAAAAAADgPwAAAAAAAOA/AAAAAAAA4D8AAAAAAADgPwAAAAAAAOA/AAAAAAAA4D8CAAAAjAAAAAEAAAAAAAAA/9Bf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9BfAP///wEAAAAAAAAAAAAAAAAAAAAAAAAAAAAAAAAAAAAAAAAAAAAAAAB/f38A5+bmA8zMzADAwP8Af39/AAAAAAAAAAAAAAAAAAAAAAAAAAAAIQAAABgAAAAUAAAAYygAAGAeAAAtKQAAKh8AABAAAAAmAAAACAAAAP//////////"/>
              </a:ext>
            </a:extLst>
          </p:cNvSpPr>
          <p:nvPr/>
        </p:nvSpPr>
        <p:spPr>
          <a:xfrm>
            <a:off x="6565265" y="4937760"/>
            <a:ext cx="128270" cy="128270"/>
          </a:xfrm>
          <a:prstGeom prst="ellipse">
            <a:avLst/>
          </a:prstGeom>
          <a:solidFill>
            <a:srgbClr val="FFD05F"/>
          </a:solidFill>
          <a:ln>
            <a:noFill/>
          </a:ln>
          <a:effectLst/>
        </p:spPr>
      </p:sp>
      <p:sp>
        <p:nvSpPr>
          <p:cNvPr id="26" name="Text 24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JSsAADIdAAAVSgAAch8AABAAAAAmAAAACAAAAP//////////"/>
              </a:ext>
            </a:extLst>
          </p:cNvSpPr>
          <p:nvPr/>
        </p:nvSpPr>
        <p:spPr>
          <a:xfrm>
            <a:off x="7013575" y="4745990"/>
            <a:ext cx="50292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650" b="1" cap="none">
                <a:solidFill>
                  <a:srgbClr val="FFFFF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Stop the athan</a:t>
            </a:r>
            <a:endParaRPr lang="en-us" sz="1650" cap="none"/>
          </a:p>
        </p:txBody>
      </p:sp>
      <p:sp>
        <p:nvSpPr>
          <p:cNvPr id="27" name="Text 25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JSsAAI4fAABdSgAACyMAABAAAAAmAAAACAAAAP//////////"/>
              </a:ext>
            </a:extLst>
          </p:cNvSpPr>
          <p:nvPr/>
        </p:nvSpPr>
        <p:spPr>
          <a:xfrm>
            <a:off x="7013575" y="5129530"/>
            <a:ext cx="5074920" cy="5670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300" cap="none">
                <a:solidFill>
                  <a:srgbClr val="A6ABB2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Click the notification or the tray item to silence it instantly.</a:t>
            </a:r>
            <a:endParaRPr lang="en-us" sz="13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7"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BE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O0CAADQLwAAugQAABAAAAAmAAAACAAAAP//////////"/>
              </a:ext>
            </a:extLst>
          </p:cNvSpPr>
          <p:nvPr/>
        </p:nvSpPr>
        <p:spPr>
          <a:xfrm>
            <a:off x="457200" y="475615"/>
            <a:ext cx="7315200" cy="2927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250" b="1" cap="none" spc="91">
                <a:solidFill>
                  <a:srgbClr val="FFD05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06  ·  PRIVACY</a:t>
            </a:r>
            <a:endParaRPr lang="en-us" sz="1250" cap="none"/>
          </a:p>
        </p:txBody>
      </p:sp>
      <p:sp>
        <p:nvSpPr>
          <p:cNvPr id="3" name="Text 1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C0FAAArSAAA9QkAABAAAAAmAAAACAAAAP//////////"/>
              </a:ext>
            </a:extLst>
          </p:cNvSpPr>
          <p:nvPr/>
        </p:nvSpPr>
        <p:spPr>
          <a:xfrm>
            <a:off x="457200" y="841375"/>
            <a:ext cx="11274425" cy="7772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3100" b="1" cap="none">
                <a:solidFill>
                  <a:srgbClr val="FFFFF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Nothing to sign up for. Nothing tracking you.</a:t>
            </a:r>
            <a:endParaRPr lang="en-us" sz="3100" cap="none"/>
          </a:p>
        </p:txBody>
      </p:sp>
      <p:sp>
        <p:nvSpPr>
          <p:cNvPr id="4" name="Text 2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UAcAADgNAAAwGAAA8BUAABAAAAAmAAAACAAAAP//////////"/>
              </a:ext>
            </a:extLst>
          </p:cNvSpPr>
          <p:nvPr/>
        </p:nvSpPr>
        <p:spPr>
          <a:xfrm>
            <a:off x="1188720" y="2148840"/>
            <a:ext cx="2743200" cy="1417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8000" b="1" cap="none">
                <a:solidFill>
                  <a:srgbClr val="FFD05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0</a:t>
            </a:r>
            <a:endParaRPr lang="en-us" sz="8000" cap="none"/>
          </a:p>
        </p:txBody>
      </p:sp>
      <p:sp>
        <p:nvSpPr>
          <p:cNvPr id="5" name="Text 3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Dd2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UAcAAIAWAAAwGAAAwBgAABAAAAAmAAAACAAAAP//////////"/>
              </a:ext>
            </a:extLst>
          </p:cNvSpPr>
          <p:nvPr/>
        </p:nvSpPr>
        <p:spPr>
          <a:xfrm>
            <a:off x="1188720" y="3657600"/>
            <a:ext cx="27432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1500" cap="none">
                <a:solidFill>
                  <a:srgbClr val="A6ABB2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accounts</a:t>
            </a:r>
            <a:endParaRPr lang="en-us" sz="1500" cap="none"/>
          </a:p>
        </p:txBody>
      </p:sp>
      <p:sp>
        <p:nvSpPr>
          <p:cNvPr id="6" name="Text 4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EG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B0AADgNAACwLgAA8BUAABAAAAAmAAAACAAAAP//////////"/>
              </a:ext>
            </a:extLst>
          </p:cNvSpPr>
          <p:nvPr/>
        </p:nvSpPr>
        <p:spPr>
          <a:xfrm>
            <a:off x="4846320" y="2148840"/>
            <a:ext cx="2743200" cy="1417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8000" b="1" cap="none">
                <a:solidFill>
                  <a:srgbClr val="FFD05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0</a:t>
            </a:r>
            <a:endParaRPr lang="en-us" sz="8000" cap="none"/>
          </a:p>
        </p:txBody>
      </p:sp>
      <p:sp>
        <p:nvSpPr>
          <p:cNvPr id="7" name="Text 5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Ewo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B0AAIAWAACwLgAAwBgAABAAAAAmAAAACAAAAP//////////"/>
              </a:ext>
            </a:extLst>
          </p:cNvSpPr>
          <p:nvPr/>
        </p:nvSpPr>
        <p:spPr>
          <a:xfrm>
            <a:off x="4846320" y="3657600"/>
            <a:ext cx="27432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1500" cap="none">
                <a:solidFill>
                  <a:srgbClr val="A6ABB2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API keys</a:t>
            </a:r>
            <a:endParaRPr lang="en-us" sz="1500" cap="none"/>
          </a:p>
        </p:txBody>
      </p:sp>
      <p:sp>
        <p:nvSpPr>
          <p:cNvPr id="8" name="Text 6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FaI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UDQAADgNAAAwRQAA8BUAABAAAAAmAAAACAAAAP//////////"/>
              </a:ext>
            </a:extLst>
          </p:cNvSpPr>
          <p:nvPr/>
        </p:nvSpPr>
        <p:spPr>
          <a:xfrm>
            <a:off x="8503920" y="2148840"/>
            <a:ext cx="2743200" cy="1417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8000" b="1" cap="none">
                <a:solidFill>
                  <a:srgbClr val="FFD05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0</a:t>
            </a:r>
            <a:endParaRPr lang="en-us" sz="8000" cap="none"/>
          </a:p>
        </p:txBody>
      </p:sp>
      <p:sp>
        <p:nvSpPr>
          <p:cNvPr id="9" name="Text 7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GXz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UDQAAIAWAAAwRQAAwBgAABAAAAAmAAAACAAAAP//////////"/>
              </a:ext>
            </a:extLst>
          </p:cNvSpPr>
          <p:nvPr/>
        </p:nvSpPr>
        <p:spPr>
          <a:xfrm>
            <a:off x="8503920" y="3657600"/>
            <a:ext cx="27432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1500" cap="none">
                <a:solidFill>
                  <a:srgbClr val="A6ABB2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ads &amp; trackers</a:t>
            </a:r>
            <a:endParaRPr lang="en-us" sz="1500" cap="none"/>
          </a:p>
        </p:txBody>
      </p:sp>
      <p:sp>
        <p:nvSpPr>
          <p:cNvPr id="10" name="Shape 8"/>
          <p:cNvSpPr>
            <a:extLst>
              <a:ext uri="smNativeData">
                <pr:smNativeData xmlns:pr="smNativeData" xmlns="smNativeData" val="SMDATA_15_zbzCahMAAAAlAAAACg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CovNQ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HUV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CovNQB/f38A5+bmA8zMzADAwP8Af39/AAAAAAAAAAAAAAAAAAAAAAAAAAAAIQAAABgAAAAUAAAA0AsAAEgbAAAAPwAASBsAABAAAAAmAAAACAAAAP//////////"/>
              </a:ext>
            </a:extLst>
          </p:cNvSpPr>
          <p:nvPr/>
        </p:nvSpPr>
        <p:spPr>
          <a:xfrm>
            <a:off x="1920240" y="4434840"/>
            <a:ext cx="8321040" cy="0"/>
          </a:xfrm>
          <a:prstGeom prst="line">
            <a:avLst/>
          </a:prstGeom>
          <a:noFill/>
          <a:ln w="9525" cap="flat" cmpd="sng" algn="ctr">
            <a:solidFill>
              <a:srgbClr val="2A2F35"/>
            </a:solidFill>
            <a:prstDash val="solid"/>
            <a:headEnd type="none"/>
            <a:tailEnd type="none"/>
          </a:ln>
          <a:effectLst/>
        </p:spPr>
      </p:sp>
      <p:sp>
        <p:nvSpPr>
          <p:cNvPr id="11" name="Text 9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AAkAAPgcAAD7QQAAUCIAABAAAAAmAAAACAAAAP//////////"/>
              </a:ext>
            </a:extLst>
          </p:cNvSpPr>
          <p:nvPr/>
        </p:nvSpPr>
        <p:spPr>
          <a:xfrm>
            <a:off x="1463040" y="4709160"/>
            <a:ext cx="9262745" cy="8686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50" cap="none">
                <a:solidFill>
                  <a:srgbClr val="A6ABB2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Keyless access to public mosque data. Your settings live in a local file —</a:t>
            </a:r>
            <a:endParaRPr lang="en-us" sz="1450" cap="none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50" cap="none">
                <a:solidFill>
                  <a:srgbClr val="A6ABB2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nothing leaves your machine, and there is no server of ours to leak.</a:t>
            </a:r>
            <a:endParaRPr lang="en-us" sz="145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8"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NBSric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O0CAADQLwAAugQAABAAAAAmAAAACAAAAP//////////"/>
              </a:ext>
            </a:extLst>
          </p:cNvSpPr>
          <p:nvPr/>
        </p:nvSpPr>
        <p:spPr>
          <a:xfrm>
            <a:off x="457200" y="475615"/>
            <a:ext cx="7315200" cy="2927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250" b="1" cap="none" spc="91">
                <a:solidFill>
                  <a:srgbClr val="FFD05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07  ·  EVERYWHERE YOU WORK</a:t>
            </a:r>
            <a:endParaRPr lang="en-us" sz="1250" cap="none"/>
          </a:p>
        </p:txBody>
      </p:sp>
      <p:sp>
        <p:nvSpPr>
          <p:cNvPr id="3" name="Text 1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EAA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C0FAACgMgAA9QkAABAAAAAmAAAACAAAAP//////////"/>
              </a:ext>
            </a:extLst>
          </p:cNvSpPr>
          <p:nvPr/>
        </p:nvSpPr>
        <p:spPr>
          <a:xfrm>
            <a:off x="457200" y="841375"/>
            <a:ext cx="7772400" cy="7772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3100" b="1" cap="none">
                <a:solidFill>
                  <a:srgbClr val="FFFFF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Light on your machine.</a:t>
            </a:r>
            <a:endParaRPr lang="en-us" sz="3100" cap="none"/>
          </a:p>
        </p:txBody>
      </p:sp>
      <p:sp>
        <p:nvSpPr>
          <p:cNvPr id="4" name="Text 2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4Q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DgNAABQIgAA0BQAABAAAAAmAAAACAAAAP//////////"/>
              </a:ext>
            </a:extLst>
          </p:cNvSpPr>
          <p:nvPr/>
        </p:nvSpPr>
        <p:spPr>
          <a:xfrm>
            <a:off x="457200" y="2148840"/>
            <a:ext cx="5120640" cy="12344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7600" b="1" cap="none">
                <a:solidFill>
                  <a:srgbClr val="FFD05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~25 MB</a:t>
            </a:r>
            <a:endParaRPr lang="en-us" sz="7600" cap="none"/>
          </a:p>
        </p:txBody>
      </p:sp>
      <p:sp>
        <p:nvSpPr>
          <p:cNvPr id="5" name="Text 3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Fo2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KgVAADgIgAAGB4AABAAAAAmAAAACAAAAP//////////"/>
              </a:ext>
            </a:extLst>
          </p:cNvSpPr>
          <p:nvPr/>
        </p:nvSpPr>
        <p:spPr>
          <a:xfrm>
            <a:off x="457200" y="3520440"/>
            <a:ext cx="5212080" cy="1371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cap="none">
                <a:solidFill>
                  <a:srgbClr val="A6ABB2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installed footprint. Built with Tauri 2 and Rust —</a:t>
            </a:r>
            <a:endParaRPr lang="en-us" sz="1400" cap="none"/>
          </a:p>
          <a:p>
            <a:pPr marL="0" indent="0">
              <a:lnSpc>
                <a:spcPct val="125000"/>
              </a:lnSpc>
              <a:buNone/>
            </a:pPr>
            <a:r>
              <a:rPr lang="en-us" sz="1400" cap="none">
                <a:solidFill>
                  <a:srgbClr val="A6ABB2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not Electron. It starts at login and you never notice it</a:t>
            </a:r>
            <a:endParaRPr lang="en-us" sz="1400" cap="none"/>
          </a:p>
          <a:p>
            <a:pPr marL="0" indent="0">
              <a:lnSpc>
                <a:spcPct val="125000"/>
              </a:lnSpc>
              <a:buNone/>
            </a:pPr>
            <a:r>
              <a:rPr lang="en-us" sz="1400" cap="none">
                <a:solidFill>
                  <a:srgbClr val="A6ABB2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until it's time to pray.</a:t>
            </a:r>
            <a:endParaRPr lang="en-us" sz="1400" cap="none"/>
          </a:p>
        </p:txBody>
      </p:sp>
      <p:sp>
        <p:nvSpPr>
          <p:cNvPr id="6" name="Text 4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GhS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ECkAAPAMAAAANgAAeA8AABAAAAAmAAAACAAAAP//////////"/>
              </a:ext>
            </a:extLst>
          </p:cNvSpPr>
          <p:nvPr/>
        </p:nvSpPr>
        <p:spPr>
          <a:xfrm>
            <a:off x="6675120" y="2103120"/>
            <a:ext cx="2103120" cy="4114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900" b="1" cap="none">
                <a:solidFill>
                  <a:srgbClr val="FFFFF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Windows</a:t>
            </a:r>
            <a:endParaRPr lang="en-us" sz="1900" cap="none"/>
          </a:p>
        </p:txBody>
      </p:sp>
      <p:sp>
        <p:nvSpPr>
          <p:cNvPr id="7" name="Text 5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BE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ECkAAJUPAABwRwAAuBEAABAAAAAmAAAACAAAAP//////////"/>
              </a:ext>
            </a:extLst>
          </p:cNvSpPr>
          <p:nvPr/>
        </p:nvSpPr>
        <p:spPr>
          <a:xfrm>
            <a:off x="6675120" y="2533015"/>
            <a:ext cx="4937760" cy="34734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350" cap="none">
                <a:solidFill>
                  <a:srgbClr val="A6ABB2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MSI &amp; NSIS installers</a:t>
            </a:r>
            <a:endParaRPr lang="en-us" sz="1350" cap="none"/>
          </a:p>
        </p:txBody>
      </p:sp>
      <p:sp>
        <p:nvSpPr>
          <p:cNvPr id="8" name="Shape 6"/>
          <p:cNvSpPr>
            <a:extLst>
              <a:ext uri="smNativeData">
                <pr:smNativeData xmlns:pr="smNativeData" xmlns="smNativeData" val="SMDATA_15_zbzCahMAAAAlAAAACg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CovNQ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DcE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CovNQB/f38A5+bmA8zMzADAwP8Af39/AAAAAAAAAAAAAAAAAAAAAAAAAAAAIQAAABgAAAAUAAAAECkAAK0SAADgRgAArRIAABAAAAAmAAAACAAAAP//////////"/>
              </a:ext>
            </a:extLst>
          </p:cNvSpPr>
          <p:nvPr/>
        </p:nvSpPr>
        <p:spPr>
          <a:xfrm>
            <a:off x="6675120" y="3035935"/>
            <a:ext cx="4846320" cy="0"/>
          </a:xfrm>
          <a:prstGeom prst="line">
            <a:avLst/>
          </a:prstGeom>
          <a:noFill/>
          <a:ln w="9525" cap="flat" cmpd="sng" algn="ctr">
            <a:solidFill>
              <a:srgbClr val="2A2F35"/>
            </a:solidFill>
            <a:prstDash val="solid"/>
            <a:headEnd type="none"/>
            <a:tailEnd type="none"/>
          </a:ln>
          <a:effectLst/>
        </p:spPr>
      </p:sp>
      <p:sp>
        <p:nvSpPr>
          <p:cNvPr id="9" name="Text 7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E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ECkAAPgTAAAANgAAgBYAABAAAAAmAAAACAAAAP//////////"/>
              </a:ext>
            </a:extLst>
          </p:cNvSpPr>
          <p:nvPr/>
        </p:nvSpPr>
        <p:spPr>
          <a:xfrm>
            <a:off x="6675120" y="3246120"/>
            <a:ext cx="2103120" cy="4114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900" b="1" cap="none">
                <a:solidFill>
                  <a:srgbClr val="FFFFF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macOS</a:t>
            </a:r>
            <a:endParaRPr lang="en-us" sz="1900" cap="none"/>
          </a:p>
        </p:txBody>
      </p:sp>
      <p:sp>
        <p:nvSpPr>
          <p:cNvPr id="10" name="Text 8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BAAE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ECkAAJ0WAABwRwAAwBgAABAAAAAmAAAACAAAAP//////////"/>
              </a:ext>
            </a:extLst>
          </p:cNvSpPr>
          <p:nvPr/>
        </p:nvSpPr>
        <p:spPr>
          <a:xfrm>
            <a:off x="6675120" y="3676015"/>
            <a:ext cx="4937760" cy="34734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350" cap="none">
                <a:solidFill>
                  <a:srgbClr val="A6ABB2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Intel &amp; Apple Silicon (universal)</a:t>
            </a:r>
            <a:endParaRPr lang="en-us" sz="1350" cap="none"/>
          </a:p>
        </p:txBody>
      </p:sp>
      <p:sp>
        <p:nvSpPr>
          <p:cNvPr id="11" name="Shape 9"/>
          <p:cNvSpPr>
            <a:extLst>
              <a:ext uri="smNativeData">
                <pr:smNativeData xmlns:pr="smNativeData" xmlns="smNativeData" val="SMDATA_15_zbzCahMAAAAlAAAACg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CovNQ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N+w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CovNQB/f38A5+bmA8zMzADAwP8Af39/AAAAAAAAAAAAAAAAAAAAAAAAAAAAIQAAABgAAAAUAAAAECkAALUZAADgRgAAtRkAABAAAAAmAAAACAAAAP//////////"/>
              </a:ext>
            </a:extLst>
          </p:cNvSpPr>
          <p:nvPr/>
        </p:nvSpPr>
        <p:spPr>
          <a:xfrm>
            <a:off x="6675120" y="4178935"/>
            <a:ext cx="4846320" cy="0"/>
          </a:xfrm>
          <a:prstGeom prst="line">
            <a:avLst/>
          </a:prstGeom>
          <a:noFill/>
          <a:ln w="9525" cap="flat" cmpd="sng" algn="ctr">
            <a:solidFill>
              <a:srgbClr val="2A2F35"/>
            </a:solidFill>
            <a:prstDash val="solid"/>
            <a:headEnd type="none"/>
            <a:tailEnd type="none"/>
          </a:ln>
          <a:effectLst/>
        </p:spPr>
      </p:sp>
      <p:sp>
        <p:nvSpPr>
          <p:cNvPr id="12" name="Text 10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ECkAAAAbAAAANgAAiB0AABAAAAAmAAAACAAAAP//////////"/>
              </a:ext>
            </a:extLst>
          </p:cNvSpPr>
          <p:nvPr/>
        </p:nvSpPr>
        <p:spPr>
          <a:xfrm>
            <a:off x="6675120" y="4389120"/>
            <a:ext cx="2103120" cy="4114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900" b="1" cap="none">
                <a:solidFill>
                  <a:srgbClr val="FFFFF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Linux</a:t>
            </a:r>
            <a:endParaRPr lang="en-us" sz="1900" cap="none"/>
          </a:p>
        </p:txBody>
      </p:sp>
      <p:sp>
        <p:nvSpPr>
          <p:cNvPr id="13" name="Text 11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sS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ECkAAKUdAABwRwAAyB8AABAAAAAmAAAACAAAAP//////////"/>
              </a:ext>
            </a:extLst>
          </p:cNvSpPr>
          <p:nvPr/>
        </p:nvSpPr>
        <p:spPr>
          <a:xfrm>
            <a:off x="6675120" y="4819015"/>
            <a:ext cx="4937760" cy="34734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350" cap="none">
                <a:solidFill>
                  <a:srgbClr val="A6ABB2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deb · rpm · AppImage · Raspberry Pi 5</a:t>
            </a:r>
            <a:endParaRPr lang="en-us" sz="1350" cap="none"/>
          </a:p>
        </p:txBody>
      </p:sp>
      <p:sp>
        <p:nvSpPr>
          <p:cNvPr id="14" name="Text 12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o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ECkAAJgiAABwRwAA+CUAABAAAAAmAAAACAAAAP//////////"/>
              </a:ext>
            </a:extLst>
          </p:cNvSpPr>
          <p:nvPr/>
        </p:nvSpPr>
        <p:spPr>
          <a:xfrm>
            <a:off x="6675120" y="5623560"/>
            <a:ext cx="493776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200" i="1" cap="none">
                <a:solidFill>
                  <a:srgbClr val="6B7076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Same tray behavior on every platform — autostart, notifications, adhan playback.</a:t>
            </a:r>
            <a:endParaRPr lang="en-us" sz="12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9"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EAA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O0CAADQLwAAugQAABAAAAAmAAAACAAAAP//////////"/>
              </a:ext>
            </a:extLst>
          </p:cNvSpPr>
          <p:nvPr/>
        </p:nvSpPr>
        <p:spPr>
          <a:xfrm>
            <a:off x="457200" y="475615"/>
            <a:ext cx="7315200" cy="2927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250" b="1" cap="none" spc="91">
                <a:solidFill>
                  <a:srgbClr val="FFD05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08  ·  WHO IT'S FOR</a:t>
            </a:r>
            <a:endParaRPr lang="en-us" sz="1250" cap="none"/>
          </a:p>
        </p:txBody>
      </p:sp>
      <p:sp>
        <p:nvSpPr>
          <p:cNvPr id="3" name="Text 1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BE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C0FAAArSAAA9QkAABAAAAAmAAAACAAAAP//////////"/>
              </a:ext>
            </a:extLst>
          </p:cNvSpPr>
          <p:nvPr/>
        </p:nvSpPr>
        <p:spPr>
          <a:xfrm>
            <a:off x="457200" y="841375"/>
            <a:ext cx="11274425" cy="7772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3100" b="1" cap="none">
                <a:solidFill>
                  <a:srgbClr val="FFFFF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Built for people who leave the phone in another room.</a:t>
            </a:r>
            <a:endParaRPr lang="en-us" sz="3100" cap="none"/>
          </a:p>
        </p:txBody>
      </p:sp>
      <p:sp>
        <p:nvSpPr>
          <p:cNvPr id="4" name="Shape 2"/>
          <p:cNvSpPr>
            <a:extLst>
              <a:ext uri="smNativeData">
                <pr:smNativeData xmlns:pr="smNativeData" xmlns="smNativeData" val="SMDATA_15_zbzCahMAAAAlAAAAZgAAAA0AAAAAkAAAAEgAAACQAAAASAAAAAAAAAAAAAAAAAAAAAEAAABQAAAAAAAAAAAA8D8AAAAAAADwPwAAAAAAAOA/AAAAAAAA4D8AAAAAAADgPwAAAAAAAOA/AAAAAAAA4D8AAAAAAADgPwAAAAAAAOA/AAAAAAAA4D8CAAAAjAAAAAEAAAAAAAAA/9Bf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DcE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9BfAP///wEAAAAAAAAAAAAAAAAAAAAAAAAAAAAAAAAAAAAAAAAAAAAAAAB/f38A5+bmA8zMzADAwP8Af39/AAAAAAAAAAAAAAAAAAAAAAAAAAAAIQAAABgAAAAUAAAAyAQAABAOAACuBQAA9g4AABAAAAAmAAAACAAAAP//////////"/>
              </a:ext>
            </a:extLst>
          </p:cNvSpPr>
          <p:nvPr/>
        </p:nvSpPr>
        <p:spPr>
          <a:xfrm>
            <a:off x="777240" y="2286000"/>
            <a:ext cx="146050" cy="146050"/>
          </a:xfrm>
          <a:prstGeom prst="ellipse">
            <a:avLst/>
          </a:prstGeom>
          <a:solidFill>
            <a:srgbClr val="FFD05F"/>
          </a:solidFill>
          <a:ln>
            <a:noFill/>
          </a:ln>
          <a:effectLst/>
        </p:spPr>
      </p:sp>
      <p:sp>
        <p:nvSpPr>
          <p:cNvPr id="5" name="Text 3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E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QAAAgQAADAGAAA0BQAABAAAAAmAAAACAAAAP//////////"/>
              </a:ext>
            </a:extLst>
          </p:cNvSpPr>
          <p:nvPr/>
        </p:nvSpPr>
        <p:spPr>
          <a:xfrm>
            <a:off x="777240" y="2606040"/>
            <a:ext cx="3246120" cy="7772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900" b="1" cap="none">
                <a:solidFill>
                  <a:srgbClr val="FFFFF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Deep workers</a:t>
            </a:r>
            <a:endParaRPr lang="en-us" sz="1900" cap="none"/>
          </a:p>
        </p:txBody>
      </p:sp>
      <p:sp>
        <p:nvSpPr>
          <p:cNvPr id="6" name="Text 4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QAAGAVAAB4GAAAGB4AABAAAAAmAAAACAAAAP//////////"/>
              </a:ext>
            </a:extLst>
          </p:cNvSpPr>
          <p:nvPr/>
        </p:nvSpPr>
        <p:spPr>
          <a:xfrm>
            <a:off x="777240" y="3474720"/>
            <a:ext cx="3200400" cy="1417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cap="none">
                <a:solidFill>
                  <a:srgbClr val="A6ABB2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Protect the flow state without losing the prayer clock — no unlocks, no feeds, no rabbit holes.</a:t>
            </a:r>
            <a:endParaRPr lang="en-us" sz="1350" cap="none"/>
          </a:p>
        </p:txBody>
      </p:sp>
      <p:sp>
        <p:nvSpPr>
          <p:cNvPr id="7" name="Shape 5"/>
          <p:cNvSpPr>
            <a:extLst>
              <a:ext uri="smNativeData">
                <pr:smNativeData xmlns:pr="smNativeData" xmlns="smNativeData" val="SMDATA_15_zbzCahMAAAAlAAAACg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CovNQ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CovNQB/f38A5+bmA8zMzADAwP8Af39/AAAAAAAAAAAAAAAAAAAAAAAAAAAAIQAAABgAAAAUAAAA7hkAABAOAADuGQAAYB4AABAAAAAmAAAACAAAAP//////////"/>
              </a:ext>
            </a:extLst>
          </p:cNvSpPr>
          <p:nvPr/>
        </p:nvSpPr>
        <p:spPr>
          <a:xfrm>
            <a:off x="4215130" y="2286000"/>
            <a:ext cx="0" cy="2651760"/>
          </a:xfrm>
          <a:prstGeom prst="line">
            <a:avLst/>
          </a:prstGeom>
          <a:noFill/>
          <a:ln w="9525" cap="flat" cmpd="sng" algn="ctr">
            <a:solidFill>
              <a:srgbClr val="2A2F35"/>
            </a:solidFill>
            <a:prstDash val="solid"/>
            <a:headEnd type="none"/>
            <a:tailEnd type="none"/>
          </a:ln>
          <a:effectLst/>
        </p:spPr>
      </p:sp>
      <p:sp>
        <p:nvSpPr>
          <p:cNvPr id="8" name="Shape 6"/>
          <p:cNvSpPr>
            <a:extLst>
              <a:ext uri="smNativeData">
                <pr:smNativeData xmlns:pr="smNativeData" xmlns="smNativeData" val="SMDATA_15_zbzCahMAAAAlAAAAZgAAAA0AAAAAkAAAAEgAAACQAAAASAAAAAAAAAAAAAAAAAAAAAEAAABQAAAAAAAAAAAA8D8AAAAAAADwPwAAAAAAAOA/AAAAAAAA4D8AAAAAAADgPwAAAAAAAOA/AAAAAAAA4D8AAAAAAADgPwAAAAAAAOA/AAAAAAAA4D8CAAAAjAAAAAEAAAAAAAAA/9Bf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9BfAP///wEAAAAAAAAAAAAAAAAAAAAAAAAAAAAAAAAAAAAAAAAAAAAAAAB/f38A5+bmA8zMzADAwP8Af39/AAAAAAAAAAAAAAAAAAAAAAAAAAAAIQAAABgAAAAUAAAASxwAABAOAAAyHQAA9g4AABAAAAAmAAAACAAAAP//////////"/>
              </a:ext>
            </a:extLst>
          </p:cNvSpPr>
          <p:nvPr/>
        </p:nvSpPr>
        <p:spPr>
          <a:xfrm>
            <a:off x="4599305" y="2286000"/>
            <a:ext cx="146685" cy="146050"/>
          </a:xfrm>
          <a:prstGeom prst="ellipse">
            <a:avLst/>
          </a:prstGeom>
          <a:solidFill>
            <a:srgbClr val="FFD05F"/>
          </a:solidFill>
          <a:ln>
            <a:noFill/>
          </a:ln>
          <a:effectLst/>
        </p:spPr>
      </p:sp>
      <p:sp>
        <p:nvSpPr>
          <p:cNvPr id="9" name="Text 7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SxwAAAgQAABDMAAA0BQAABAAAAAmAAAACAAAAP//////////"/>
              </a:ext>
            </a:extLst>
          </p:cNvSpPr>
          <p:nvPr/>
        </p:nvSpPr>
        <p:spPr>
          <a:xfrm>
            <a:off x="4599305" y="2606040"/>
            <a:ext cx="3246120" cy="7772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900" b="1" cap="none">
                <a:solidFill>
                  <a:srgbClr val="FFFFF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Remote workers &amp; devs</a:t>
            </a:r>
            <a:endParaRPr lang="en-us" sz="1900" cap="none"/>
          </a:p>
        </p:txBody>
      </p:sp>
      <p:sp>
        <p:nvSpPr>
          <p:cNvPr id="10" name="Text 8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SxwAAGAVAAD7LwAAGB4AABAAAAAmAAAACAAAAP//////////"/>
              </a:ext>
            </a:extLst>
          </p:cNvSpPr>
          <p:nvPr/>
        </p:nvSpPr>
        <p:spPr>
          <a:xfrm>
            <a:off x="4599305" y="3474720"/>
            <a:ext cx="3200400" cy="1417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cap="none">
                <a:solidFill>
                  <a:srgbClr val="A6ABB2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The machine you already stare at becomes the one that calls you to prayer.</a:t>
            </a:r>
            <a:endParaRPr lang="en-us" sz="1350" cap="none"/>
          </a:p>
        </p:txBody>
      </p:sp>
      <p:sp>
        <p:nvSpPr>
          <p:cNvPr id="11" name="Shape 9"/>
          <p:cNvSpPr>
            <a:extLst>
              <a:ext uri="smNativeData">
                <pr:smNativeData xmlns:pr="smNativeData" xmlns="smNativeData" val="SMDATA_15_zbzCahMAAAAlAAAACg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CovNQ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CovNQB/f38A5+bmA8zMzADAwP8Af39/AAAAAAAAAAAAAAAAAAAAAAAAAAAAIQAAABgAAAAUAAAAcjEAABAOAAByMQAAYB4AABAAAAAmAAAACAAAAP//////////"/>
              </a:ext>
            </a:extLst>
          </p:cNvSpPr>
          <p:nvPr/>
        </p:nvSpPr>
        <p:spPr>
          <a:xfrm>
            <a:off x="8037830" y="2286000"/>
            <a:ext cx="0" cy="2651760"/>
          </a:xfrm>
          <a:prstGeom prst="line">
            <a:avLst/>
          </a:prstGeom>
          <a:noFill/>
          <a:ln w="9525" cap="flat" cmpd="sng" algn="ctr">
            <a:solidFill>
              <a:srgbClr val="2A2F35"/>
            </a:solidFill>
            <a:prstDash val="solid"/>
            <a:headEnd type="none"/>
            <a:tailEnd type="none"/>
          </a:ln>
          <a:effectLst/>
        </p:spPr>
      </p:sp>
      <p:sp>
        <p:nvSpPr>
          <p:cNvPr id="12" name="Shape 10"/>
          <p:cNvSpPr>
            <a:extLst>
              <a:ext uri="smNativeData">
                <pr:smNativeData xmlns:pr="smNativeData" xmlns="smNativeData" val="SMDATA_15_zbzCahMAAAAlAAAAZgAAAA0AAAAAkAAAAEgAAACQAAAASAAAAAAAAAAAAAAAAAAAAAEAAABQAAAAAAAAAAAA8D8AAAAAAADwPwAAAAAAAOA/AAAAAAAA4D8AAAAAAADgPwAAAAAAAOA/AAAAAAAA4D8AAAAAAADgPwAAAAAAAOA/AAAAAAAA4D8CAAAAjAAAAAEAAAAAAAAA/9Bf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9BfAP///wEAAAAAAAAAAAAAAAAAAAAAAAAAAAAAAAAAAAAAAAAAAAAAAAB/f38A5+bmA8zMzADAwP8Af39/AAAAAAAAAAAAAAAAAAAAAAAAAAAAIQAAABgAAAAUAAAAzjMAABAOAAC1NAAA9g4AABAAAAAmAAAACAAAAP//////////"/>
              </a:ext>
            </a:extLst>
          </p:cNvSpPr>
          <p:nvPr/>
        </p:nvSpPr>
        <p:spPr>
          <a:xfrm>
            <a:off x="8421370" y="2286000"/>
            <a:ext cx="146685" cy="146050"/>
          </a:xfrm>
          <a:prstGeom prst="ellipse">
            <a:avLst/>
          </a:prstGeom>
          <a:solidFill>
            <a:srgbClr val="FFD05F"/>
          </a:solidFill>
          <a:ln>
            <a:noFill/>
          </a:ln>
          <a:effectLst/>
        </p:spPr>
      </p:sp>
      <p:sp>
        <p:nvSpPr>
          <p:cNvPr id="13" name="Text 11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zjMAAAgQAADGRwAA0BQAABAAAAAmAAAACAAAAP//////////"/>
              </a:ext>
            </a:extLst>
          </p:cNvSpPr>
          <p:nvPr/>
        </p:nvSpPr>
        <p:spPr>
          <a:xfrm>
            <a:off x="8421370" y="2606040"/>
            <a:ext cx="3246120" cy="7772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900" b="1" cap="none">
                <a:solidFill>
                  <a:srgbClr val="FFFFF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Students</a:t>
            </a:r>
            <a:endParaRPr lang="en-us" sz="1900" cap="none"/>
          </a:p>
        </p:txBody>
      </p:sp>
      <p:sp>
        <p:nvSpPr>
          <p:cNvPr id="14" name="Text 12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zjMAAGAVAAB+RwAAGB4AABAAAAAmAAAACAAAAP//////////"/>
              </a:ext>
            </a:extLst>
          </p:cNvSpPr>
          <p:nvPr/>
        </p:nvSpPr>
        <p:spPr>
          <a:xfrm>
            <a:off x="8421370" y="3474720"/>
            <a:ext cx="3200400" cy="1417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cap="none">
                <a:solidFill>
                  <a:srgbClr val="A6ABB2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Long study sessions that respect salah — reminders arrive, reels don't.</a:t>
            </a:r>
            <a:endParaRPr lang="en-us" sz="1350" cap="none"/>
          </a:p>
        </p:txBody>
      </p:sp>
      <p:sp>
        <p:nvSpPr>
          <p:cNvPr id="15" name="Text 13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QAAHghAAAIRgAASCQAABAAAAAmAAAACAAAAP//////////"/>
              </a:ext>
            </a:extLst>
          </p:cNvSpPr>
          <p:nvPr/>
        </p:nvSpPr>
        <p:spPr>
          <a:xfrm>
            <a:off x="777240" y="5440680"/>
            <a:ext cx="1060704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600" i="1" cap="none">
                <a:solidFill>
                  <a:srgbClr val="FFD05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If your phone stays in another room, your prayer times shouldn't live on it.</a:t>
            </a:r>
            <a:endParaRPr lang="en-us" sz="16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10"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extLst>
              <a:ext uri="smNativeData">
                <pr:smNativeData xmlns:pr="smNativeData" xmlns="smNativeData" val="SMDATA_15_zbzCahMAAAAlAAAAZgAAAA0AAAAAkAAAAEgAAACQAAAASAAAAAAAAAAAAAAAAAAAAAEAAABQAAAAAAAAAAAA8D8AAAAAAADwPwAAAAAAAOA/AAAAAAAA4D8AAAAAAADgPwAAAAAAAOA/AAAAAAAA4D8AAAAAAADgPwAAAAAAAOA/AAAAAAAA4D8CAAAAjAAAAAEAAAAAAAAA/9Bf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9BfAP///wEAAAAAAAAAAAAAAAAAAAAAAAAAAAAAAAAAAAAAAAAAAAAAAAB/f38A5+bmA8zMzADAwP8Af39/AAAAAAAAAAAAAAAAAAAAAAAAAAAAIQAAABgAAAAUAAAAhiMAAHgGAAB2JwAAaAoAABAAAAAmAAAACAAAAP//////////"/>
              </a:ext>
            </a:extLst>
          </p:cNvSpPr>
          <p:nvPr/>
        </p:nvSpPr>
        <p:spPr>
          <a:xfrm>
            <a:off x="5774690" y="1051560"/>
            <a:ext cx="640080" cy="640080"/>
          </a:xfrm>
          <a:prstGeom prst="ellipse">
            <a:avLst/>
          </a:prstGeom>
          <a:solidFill>
            <a:srgbClr val="FFD05F"/>
          </a:solidFill>
          <a:ln>
            <a:noFill/>
          </a:ln>
          <a:effectLst/>
        </p:spPr>
      </p:sp>
      <p:sp>
        <p:nvSpPr>
          <p:cNvPr id="3" name="Shape 1"/>
          <p:cNvSpPr>
            <a:extLst>
              <a:ext uri="smNativeData">
                <pr:smNativeData xmlns:pr="smNativeData" xmlns="smNativeData" val="SMDATA_15_zbzCahMAAAAlAAAAZgAAAA0AAAAAkAAAAEgAAACQAAAASAAAAAAAAAAAAAAAAAAAAAEAAABQAAAAAAAAAAAA8D8AAAAAAADwPwAAAAAAAOA/AAAAAAAA4D8AAAAAAADgPwAAAAAAAOA/AAAAAAAA4D8AAAAAAADgPwAAAAAAAOA/AAAAAAAA4D8CAAAAjAAAAAEAAAAAAAAACAkL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CAkLAP///wEAAAAAAAAAAAAAAAAAAAAAAAAAAAAAAAAAAAAAAAAAAAAAAAB/f38A5+bmA8zMzADAwP8Af39/AAAAAAAAAAAAAAAAAAAAAAAAAAAAIQAAABgAAAAUAAAAoCQAABMGAAADKAAAdgkAABAAAAAmAAAACAAAAP//////////"/>
              </a:ext>
            </a:extLst>
          </p:cNvSpPr>
          <p:nvPr/>
        </p:nvSpPr>
        <p:spPr>
          <a:xfrm>
            <a:off x="5953760" y="987425"/>
            <a:ext cx="550545" cy="550545"/>
          </a:xfrm>
          <a:prstGeom prst="ellipse">
            <a:avLst/>
          </a:prstGeom>
          <a:solidFill>
            <a:srgbClr val="08090B"/>
          </a:solidFill>
          <a:ln>
            <a:noFill/>
          </a:ln>
          <a:effectLst/>
        </p:spPr>
      </p:sp>
      <p:sp>
        <p:nvSpPr>
          <p:cNvPr id="4" name="Text 2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8AMAABAOAAALRwAAaBMAABAAAAAmAAAACAAAAP//////////"/>
              </a:ext>
            </a:extLst>
          </p:cNvSpPr>
          <p:nvPr/>
        </p:nvSpPr>
        <p:spPr>
          <a:xfrm>
            <a:off x="640080" y="2286000"/>
            <a:ext cx="10908665" cy="8686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4800" b="1" cap="none">
                <a:solidFill>
                  <a:srgbClr val="FFFFF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Keep the phone down.</a:t>
            </a:r>
            <a:endParaRPr lang="en-us" sz="4800" cap="none"/>
          </a:p>
        </p:txBody>
      </p:sp>
      <p:sp>
        <p:nvSpPr>
          <p:cNvPr id="5" name="Text 3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8AMAALATAAALRwAACBkAABAAAAAmAAAACAAAAP//////////"/>
              </a:ext>
            </a:extLst>
          </p:cNvSpPr>
          <p:nvPr/>
        </p:nvSpPr>
        <p:spPr>
          <a:xfrm>
            <a:off x="640080" y="3200400"/>
            <a:ext cx="10908665" cy="8686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4800" b="1" cap="none">
                <a:solidFill>
                  <a:srgbClr val="FFD05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Never miss a prayer.</a:t>
            </a:r>
            <a:endParaRPr lang="en-us" sz="4800" cap="none"/>
          </a:p>
        </p:txBody>
      </p:sp>
      <p:sp>
        <p:nvSpPr>
          <p:cNvPr id="6" name="Text 4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BE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8AMAACAcAAALRwAAYB4AABAAAAAmAAAACAAAAP//////////"/>
              </a:ext>
            </a:extLst>
          </p:cNvSpPr>
          <p:nvPr/>
        </p:nvSpPr>
        <p:spPr>
          <a:xfrm>
            <a:off x="640080" y="4572000"/>
            <a:ext cx="10908665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1500" b="1" cap="none">
                <a:solidFill>
                  <a:srgbClr val="FFFFF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mawaqit-desktop  ·  free &amp; open source</a:t>
            </a:r>
            <a:endParaRPr lang="en-us" sz="1500" cap="none"/>
          </a:p>
        </p:txBody>
      </p:sp>
      <p:sp>
        <p:nvSpPr>
          <p:cNvPr id="7" name="Text 5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Ezc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8AMAAKgeAAALRwAAoCAAABAAAAAmAAAACAAAAP//////////"/>
              </a:ext>
            </a:extLst>
          </p:cNvSpPr>
          <p:nvPr/>
        </p:nvSpPr>
        <p:spPr>
          <a:xfrm>
            <a:off x="640080" y="4983480"/>
            <a:ext cx="10908665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1250" cap="none">
                <a:solidFill>
                  <a:srgbClr val="A6ABB2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Windows  ·  macOS  ·  Linux  ·  Raspberry Pi 5</a:t>
            </a:r>
            <a:endParaRPr lang="en-us" sz="1250" cap="none"/>
          </a:p>
        </p:txBody>
      </p:sp>
      <p:sp>
        <p:nvSpPr>
          <p:cNvPr id="8" name="Text 6"/>
          <p:cNvSpPr>
            <a:extLst>
              <a:ext uri="smNativeData">
                <pr:smNativeData xmlns:pr="smNativeData" xmlns="smNativeData" val="SMDATA_15_zbzC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Ffm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8AMAALgjAAALRwAAsCUAABAAAAAmAAAACAAAAP//////////"/>
              </a:ext>
            </a:extLst>
          </p:cNvSpPr>
          <p:nvPr/>
        </p:nvSpPr>
        <p:spPr>
          <a:xfrm>
            <a:off x="640080" y="5806440"/>
            <a:ext cx="10908665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1200" cap="none">
                <a:solidFill>
                  <a:srgbClr val="6B7076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github.com/&lt;your-handle&gt;/mawaqit-desktop</a:t>
            </a:r>
            <a:endParaRPr lang="en-us" sz="12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sentation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sentation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Override1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mawaqit-desktop — Deep work. Zero missed prayers.</dc:title>
  <dc:subject>PptxGenJS Presentation</dc:subject>
  <dc:creator>Bilel Eljaamii</dc:creator>
  <cp:keywords/>
  <dc:description/>
  <cp:lastModifiedBy>bilel</cp:lastModifiedBy>
  <cp:revision>0</cp:revision>
  <dcterms:created xsi:type="dcterms:W3CDTF">2026-09-29T22:45:12Z</dcterms:created>
  <dcterms:modified xsi:type="dcterms:W3CDTF">2026-10-04T20:53:33Z</dcterms:modified>
</cp:coreProperties>
</file>